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a82d0daff746ee" /><Relationship Type="http://schemas.openxmlformats.org/officeDocument/2006/relationships/extended-properties" Target="/docProps/app.xml" Id="R965a45100c3247e5" /><Relationship Type="http://schemas.openxmlformats.org/officeDocument/2006/relationships/officeDocument" Target="/ppt/presentation.xml" Id="R753bc936194e4c35" /></Relationships>
</file>

<file path=ppt/presentation.xml><?xml version="1.0" encoding="utf-8"?>
<p:presentation xmlns:p="http://schemas.openxmlformats.org/presentationml/2006/main">
  <p:sldMasterIdLst>
    <p:sldMasterId xmlns:r="http://schemas.openxmlformats.org/officeDocument/2006/relationships" id="2147483648" r:id="Rcd3ff152f55b4f5a"/>
  </p:sldMasterIdLst>
  <p:notesMasterIdLst>
    <p:notesMasterId xmlns:r="http://schemas.openxmlformats.org/officeDocument/2006/relationships" r:id="Rdadd6ae28108491c"/>
  </p:notesMasterIdLst>
  <p:sldIdLst>
    <p:sldId xmlns:r="http://schemas.openxmlformats.org/officeDocument/2006/relationships" id="256" r:id="Rcb126f79e7b74abe"/>
    <p:sldId xmlns:r="http://schemas.openxmlformats.org/officeDocument/2006/relationships" id="257" r:id="Rea9e28305eaa4fd3"/>
    <p:sldId xmlns:r="http://schemas.openxmlformats.org/officeDocument/2006/relationships" id="258" r:id="R024834aa70514f66"/>
    <p:sldId xmlns:r="http://schemas.openxmlformats.org/officeDocument/2006/relationships" id="259" r:id="R1ccc51c0455c4baf"/>
    <p:sldId xmlns:r="http://schemas.openxmlformats.org/officeDocument/2006/relationships" id="260" r:id="R8cc8258de0b9464d"/>
    <p:sldId xmlns:r="http://schemas.openxmlformats.org/officeDocument/2006/relationships" id="261" r:id="R0be65e3ec874458b"/>
    <p:sldId xmlns:r="http://schemas.openxmlformats.org/officeDocument/2006/relationships" id="262" r:id="Rd08d40d648194ee1"/>
    <p:sldId xmlns:r="http://schemas.openxmlformats.org/officeDocument/2006/relationships" id="263" r:id="R380385447614471b"/>
    <p:sldId xmlns:r="http://schemas.openxmlformats.org/officeDocument/2006/relationships" id="264" r:id="R933d8486d3fd4691"/>
    <p:sldId xmlns:r="http://schemas.openxmlformats.org/officeDocument/2006/relationships" id="265" r:id="Raf7c047eb1834737"/>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9a22226bda64c3c" /><Relationship Type="http://schemas.openxmlformats.org/officeDocument/2006/relationships/slideMaster" Target="/ppt/slideMasters/slideMaster1.xml" Id="Rcd3ff152f55b4f5a" /><Relationship Type="http://schemas.openxmlformats.org/officeDocument/2006/relationships/notesMaster" Target="/ppt/notesMasters/notesMaster1.xml" Id="Rdadd6ae28108491c" /><Relationship Type="http://schemas.openxmlformats.org/officeDocument/2006/relationships/presProps" Target="/ppt/presProps.xml" Id="R98779f65e7f94c35" /><Relationship Type="http://schemas.openxmlformats.org/officeDocument/2006/relationships/viewProps" Target="/ppt/viewProps.xml" Id="Rad3daaca41154306" /><Relationship Type="http://schemas.openxmlformats.org/officeDocument/2006/relationships/tableStyles" Target="/ppt/tableStyles.xml" Id="R83d5a8fc8dc749de" /><Relationship Type="http://schemas.openxmlformats.org/officeDocument/2006/relationships/slide" Target="/ppt/slides/slide1.xml" Id="Rcb126f79e7b74abe" /><Relationship Type="http://schemas.openxmlformats.org/officeDocument/2006/relationships/slide" Target="/ppt/slides/slide2.xml" Id="Rea9e28305eaa4fd3" /><Relationship Type="http://schemas.openxmlformats.org/officeDocument/2006/relationships/slide" Target="/ppt/slides/slide3.xml" Id="R024834aa70514f66" /><Relationship Type="http://schemas.openxmlformats.org/officeDocument/2006/relationships/slide" Target="/ppt/slides/slide4.xml" Id="R1ccc51c0455c4baf" /><Relationship Type="http://schemas.openxmlformats.org/officeDocument/2006/relationships/slide" Target="/ppt/slides/slide5.xml" Id="R8cc8258de0b9464d" /><Relationship Type="http://schemas.openxmlformats.org/officeDocument/2006/relationships/slide" Target="/ppt/slides/slide6.xml" Id="R0be65e3ec874458b" /><Relationship Type="http://schemas.openxmlformats.org/officeDocument/2006/relationships/slide" Target="/ppt/slides/slide7.xml" Id="Rd08d40d648194ee1" /><Relationship Type="http://schemas.openxmlformats.org/officeDocument/2006/relationships/slide" Target="/ppt/slides/slide8.xml" Id="R380385447614471b" /><Relationship Type="http://schemas.openxmlformats.org/officeDocument/2006/relationships/slide" Target="/ppt/slides/slide9.xml" Id="R933d8486d3fd4691" /><Relationship Type="http://schemas.openxmlformats.org/officeDocument/2006/relationships/slide" Target="/ppt/slides/slide10.xml" Id="Raf7c047eb18347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bb8cb357ec41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ec6e94af47409d" /><Relationship Type="http://schemas.openxmlformats.org/officeDocument/2006/relationships/notesMaster" Target="/ppt/notesMasters/notesMaster1.xml" Id="R689d904a209d4b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ede9bd14cf445e" /><Relationship Type="http://schemas.openxmlformats.org/officeDocument/2006/relationships/notesMaster" Target="/ppt/notesMasters/notesMaster1.xml" Id="R8154f39474b947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60c3debc384012" /><Relationship Type="http://schemas.openxmlformats.org/officeDocument/2006/relationships/notesMaster" Target="/ppt/notesMasters/notesMaster1.xml" Id="R3bdd717bbae84f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1fa20fa52140c5" /><Relationship Type="http://schemas.openxmlformats.org/officeDocument/2006/relationships/notesMaster" Target="/ppt/notesMasters/notesMaster1.xml" Id="R710ae5a6af5540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37e9a0d46f491e" /><Relationship Type="http://schemas.openxmlformats.org/officeDocument/2006/relationships/notesMaster" Target="/ppt/notesMasters/notesMaster1.xml" Id="Rbf50b1bede59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a3ef19c79041a3" /><Relationship Type="http://schemas.openxmlformats.org/officeDocument/2006/relationships/notesMaster" Target="/ppt/notesMasters/notesMaster1.xml" Id="R9456e1f21c214f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72b2d061824736" /><Relationship Type="http://schemas.openxmlformats.org/officeDocument/2006/relationships/notesMaster" Target="/ppt/notesMasters/notesMaster1.xml" Id="Rd1da2790a99b45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ea0211fb9c48fc" /><Relationship Type="http://schemas.openxmlformats.org/officeDocument/2006/relationships/notesMaster" Target="/ppt/notesMasters/notesMaster1.xml" Id="R6b7284068e2940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9a75e3bcf44339" /><Relationship Type="http://schemas.openxmlformats.org/officeDocument/2006/relationships/notesMaster" Target="/ppt/notesMasters/notesMaster1.xml" Id="R6397a183d61b40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704d1ca39d4d16" /><Relationship Type="http://schemas.openxmlformats.org/officeDocument/2006/relationships/notesMaster" Target="/ppt/notesMasters/notesMaster1.xml" Id="Rf1e099d21aeb4a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开题报告答辩陈述：明确本课题立足于解决大语言模型生成行程中存在的虚构景点、时间冲突与不可行路线问题，建立明确的软硬约束分流体系。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重点向评委阐述 TravelPlanner 基准所暴露出的痛点：直接用大模型端到端输出行程，成功率极低，核心原因是模型缺乏物理时空边界感知。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指出本研究的理论与实践意义：不迷信大模型的通用全能性，而是将其嵌入确定性工程框架，使其在受控边界内发挥语义理解优势。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清晰陈述本课题的六项具体工作内容，覆盖系统交互、数据治理、运筹排程、工程开发到实验评估全流程。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强调本设计的核心创新不在于提出新的基础大模型算法，而在于针对垂直领域复杂约束排程的软件工程架构与交互约束机制创新。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说明课题采用严谨的实证软件工程研究方法：结合前沿文献、构建标准案例集、执行严格消融实验，以数据证明架构合理性。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本页为系统的核心设计图。向评委老师详细剖析：普通模式与规划模式如何分流，LangGraph 的四个连续子图如何分步完成硬约束求解。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展示核心技术栈及其对应工程边界，说明系统由可核查数据、规则与模型协同构成。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展示清晰可控的时间进度安排，突出阶段性 Milestone 与风险前置控制策略，向指导老师展示按时保质完成毕业设计的可行性。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结束答辩陈述，致谢指导教师与答辩组评委老师，准备接受老师们关于系统架构、算法细节与进度规划的质询与指导。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d8486030be42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4c0f7256bb4862" /><Relationship Type="http://schemas.openxmlformats.org/officeDocument/2006/relationships/image" Target="/ppt/media/image.png" Id="R709e7bd94de6447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Slide master 1">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D537925-4D06-4F40-81AA-7E8A9897745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D9DFE8"/>
          </a:solidFill>
        </p:spPr>
      </p:sp>
      <p:sp>
        <p:nvSpPr>
          <p:cNvPr id="3" name="Shape 1">
            <a:extLst xmlns:a="http://schemas.openxmlformats.org/drawingml/2006/main">
              <a:ext uri="{FF2B5EF4-FFF2-40B4-BE49-F238E27FC236}">
                <a16:creationId xmlns:a16="http://schemas.microsoft.com/office/drawing/2014/main" id="{A8C2FDBF-5A12-4A53-A0F8-2DD6249AD06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p:spPr>
      </p:sp>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709e7bd94de64474"/>
          <a:stretch xmlns:a="http://schemas.openxmlformats.org/drawingml/2006/main">
            <a:fillRect l="0" t="0" r="0" b="0"/>
          </a:stretch>
        </p:blipFill>
        <p:spPr>
          <a:xfrm xmlns:a="http://schemas.openxmlformats.org/drawingml/2006/main">
            <a:off x="11076875" y="6558991"/>
            <a:ext cx="1071843" cy="25603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edd0360e4c4b4b" /><Relationship Type="http://schemas.openxmlformats.org/officeDocument/2006/relationships/slideLayout" Target="/ppt/slideLayouts/slideLayout1.xml" Id="R4ff6d7a6d0d04cdc" /><Relationship Type="http://schemas.openxmlformats.org/officeDocument/2006/relationships/slideLayout" Target="/ppt/slideLayouts/slideLayout2.xml" Id="Rd5a274237ea844c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f6d7a6d0d04cdc"/>
    <p:sldLayoutId xmlns:r="http://schemas.openxmlformats.org/officeDocument/2006/relationships" id="2147483650" r:id="Rd5a274237ea844c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7e4ec8f033f14360" /><Relationship Type="http://schemas.openxmlformats.org/officeDocument/2006/relationships/image" Target="/ppt/media/image2.png" Id="R25c0b64d80674154" /><Relationship Type="http://schemas.openxmlformats.org/officeDocument/2006/relationships/notesSlide" Target="/ppt/notesSlides/notesSlide1.xml" Id="R4f3293e586664b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3d37b9098934a26" /><Relationship Type="http://schemas.openxmlformats.org/officeDocument/2006/relationships/notesSlide" Target="/ppt/notesSlides/notesSlide2.xml" Id="R6f0fcc728b3549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61fd64ed0ed4817" /><Relationship Type="http://schemas.openxmlformats.org/officeDocument/2006/relationships/notesSlide" Target="/ppt/notesSlides/notesSlide3.xml" Id="Rca487ea751e54b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b6783c855ed4ea2" /><Relationship Type="http://schemas.openxmlformats.org/officeDocument/2006/relationships/notesSlide" Target="/ppt/notesSlides/notesSlide4.xml" Id="R1f255d7d8b734b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5bf4b22194f473d" /><Relationship Type="http://schemas.openxmlformats.org/officeDocument/2006/relationships/notesSlide" Target="/ppt/notesSlides/notesSlide5.xml" Id="R6624ffdb35f447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dc8a2c2f9894be9" /><Relationship Type="http://schemas.openxmlformats.org/officeDocument/2006/relationships/image" Target="/ppt/media/image3.png" Id="Rb900faa53c374bb8" /><Relationship Type="http://schemas.openxmlformats.org/officeDocument/2006/relationships/image" Target="/ppt/media/image4.png" Id="R028007de576a4719" /><Relationship Type="http://schemas.openxmlformats.org/officeDocument/2006/relationships/image" Target="/ppt/media/image5.png" Id="R58477a359ddd45dd" /><Relationship Type="http://schemas.openxmlformats.org/officeDocument/2006/relationships/image" Target="/ppt/media/image6.png" Id="R548bf74cc7e7467a" /><Relationship Type="http://schemas.openxmlformats.org/officeDocument/2006/relationships/notesSlide" Target="/ppt/notesSlides/notesSlide6.xml" Id="R58ccaecebf8842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73ec670bd3d4b47" /><Relationship Type="http://schemas.openxmlformats.org/officeDocument/2006/relationships/notesSlide" Target="/ppt/notesSlides/notesSlide7.xml" Id="R6835e83fe85842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b12eac541ab4e49" /><Relationship Type="http://schemas.openxmlformats.org/officeDocument/2006/relationships/notesSlide" Target="/ppt/notesSlides/notesSlide8.xml" Id="R5473d55734c141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5b61cfd6b1646bb" /><Relationship Type="http://schemas.openxmlformats.org/officeDocument/2006/relationships/notesSlide" Target="/ppt/notesSlides/notesSlide9.xml" Id="R4a894745d7214d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7a5d1880d3a4839" /><Relationship Type="http://schemas.openxmlformats.org/officeDocument/2006/relationships/notesSlide" Target="/ppt/notesSlides/notesSlide10.xml" Id="R39d713d85370419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47E9A3-CEE2-467B-88EF-3B88A65573BD}"/>
              </a:ext>
            </a:extLst>
          </p:cNvPr>
          <p:cNvSpPr>
            <a:spLocks xmlns:a="http://schemas.openxmlformats.org/drawingml/2006/main" noGrp="1"/>
          </p:cNvSpPr>
          <p:nvPr/>
        </p:nvSpPr>
        <p:spPr>
          <a:xfrm xmlns:a="http://schemas.openxmlformats.org/drawingml/2006/main">
            <a:off x="558786" y="558800"/>
            <a:ext cx="6969645" cy="2063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endParaRPr sz="1300"/>
          </a:p>
        </p:txBody>
      </p:sp>
      <p:sp>
        <p:nvSpPr>
          <p:cNvPr id="3" name="Text 1">
            <a:extLst xmlns:a="http://schemas.openxmlformats.org/drawingml/2006/main">
              <a:ext uri="{FF2B5EF4-FFF2-40B4-BE49-F238E27FC236}">
                <a16:creationId xmlns:a16="http://schemas.microsoft.com/office/drawing/2014/main" id="{2610FDE4-6EF0-4B56-8443-A3336BB11778}"/>
              </a:ext>
            </a:extLst>
          </p:cNvPr>
          <p:cNvSpPr>
            <a:spLocks xmlns:a="http://schemas.openxmlformats.org/drawingml/2006/main" noGrp="1"/>
          </p:cNvSpPr>
          <p:nvPr/>
        </p:nvSpPr>
        <p:spPr>
          <a:xfrm xmlns:a="http://schemas.openxmlformats.org/drawingml/2006/main">
            <a:off x="558786" y="835025"/>
            <a:ext cx="6410859" cy="1066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88000"/>
              </a:lnSpc>
              <a:buNone/>
            </a:pPr>
            <a:r>
              <a:rPr sz="4000" b="1" spc="-20">
                <a:solidFill>
                  <a:srgbClr val="1B4A9B"/>
                </a:solidFill>
                <a:latin typeface="Noto Sans SC Bold"/>
                <a:ea typeface="Noto Sans SC Bold"/>
                <a:cs typeface="Noto Sans SC Bold"/>
              </a:rPr>
              <a:t>基于大语言模型的个性化旅游规划系统设计与实现</a:t>
            </a:r>
            <a:endParaRPr sz="4000"/>
          </a:p>
        </p:txBody>
      </p:sp>
      <p:sp>
        <p:nvSpPr>
          <p:cNvPr id="4" name="Text 2">
            <a:extLst xmlns:a="http://schemas.openxmlformats.org/drawingml/2006/main">
              <a:ext uri="{FF2B5EF4-FFF2-40B4-BE49-F238E27FC236}">
                <a16:creationId xmlns:a16="http://schemas.microsoft.com/office/drawing/2014/main" id="{E1A4491B-A49C-4FCE-A171-D85B27E01C17}"/>
              </a:ext>
            </a:extLst>
          </p:cNvPr>
          <p:cNvSpPr>
            <a:spLocks xmlns:a="http://schemas.openxmlformats.org/drawingml/2006/main" noGrp="1"/>
          </p:cNvSpPr>
          <p:nvPr/>
        </p:nvSpPr>
        <p:spPr>
          <a:xfrm xmlns:a="http://schemas.openxmlformats.org/drawingml/2006/main">
            <a:off x="558786" y="2070100"/>
            <a:ext cx="6969645" cy="3038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650">
                <a:solidFill>
                  <a:srgbClr val="1A1A1A"/>
                </a:solidFill>
                <a:latin typeface="Noto Sans SC"/>
                <a:ea typeface="Noto Sans SC"/>
                <a:cs typeface="Noto Sans SC"/>
              </a:rPr>
              <a:t>划清生成智能体与确定性约束排程的系统边界</a:t>
            </a:r>
            <a:endParaRPr sz="1650"/>
          </a:p>
        </p:txBody>
      </p:sp>
      <p:sp>
        <p:nvSpPr>
          <p:cNvPr id="5" name="Text 3">
            <a:extLst xmlns:a="http://schemas.openxmlformats.org/drawingml/2006/main">
              <a:ext uri="{FF2B5EF4-FFF2-40B4-BE49-F238E27FC236}">
                <a16:creationId xmlns:a16="http://schemas.microsoft.com/office/drawing/2014/main" id="{83EE06AA-D116-4FAF-BFA8-CBEE03B9762D}"/>
              </a:ext>
            </a:extLst>
          </p:cNvPr>
          <p:cNvSpPr>
            <a:spLocks xmlns:a="http://schemas.openxmlformats.org/drawingml/2006/main" noGrp="1"/>
          </p:cNvSpPr>
          <p:nvPr/>
        </p:nvSpPr>
        <p:spPr>
          <a:xfrm xmlns:a="http://schemas.openxmlformats.org/drawingml/2006/main">
            <a:off x="558786" y="2662833"/>
            <a:ext cx="6410859" cy="31363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900">
                <a:solidFill>
                  <a:srgbClr val="1B4A9B"/>
                </a:solidFill>
                <a:latin typeface="Noto Sans SC"/>
                <a:ea typeface="Noto Sans SC"/>
                <a:cs typeface="Noto Sans SC"/>
              </a:rPr>
              <a:t>报告核心要点</a:t>
            </a:r>
            <a:endParaRPr sz="1900"/>
          </a:p>
        </p:txBody>
      </p:sp>
      <p:sp>
        <p:nvSpPr>
          <p:cNvPr id="6" name="Shape 4">
            <a:extLst xmlns:a="http://schemas.openxmlformats.org/drawingml/2006/main">
              <a:ext uri="{FF2B5EF4-FFF2-40B4-BE49-F238E27FC236}">
                <a16:creationId xmlns:a16="http://schemas.microsoft.com/office/drawing/2014/main" id="{49587BF4-91A0-4C4B-91E3-0446F9709D13}"/>
              </a:ext>
            </a:extLst>
          </p:cNvPr>
          <p:cNvSpPr>
            <a:spLocks xmlns:a="http://schemas.openxmlformats.org/drawingml/2006/main" noGrp="1"/>
          </p:cNvSpPr>
          <p:nvPr/>
        </p:nvSpPr>
        <p:spPr>
          <a:xfrm xmlns:a="http://schemas.openxmlformats.org/drawingml/2006/main">
            <a:off x="558786" y="3142357"/>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7" name="Text 5">
            <a:extLst xmlns:a="http://schemas.openxmlformats.org/drawingml/2006/main">
              <a:ext uri="{FF2B5EF4-FFF2-40B4-BE49-F238E27FC236}">
                <a16:creationId xmlns:a16="http://schemas.microsoft.com/office/drawing/2014/main" id="{242724A6-B1D2-4106-8FE9-B72FC64170B8}"/>
              </a:ext>
            </a:extLst>
          </p:cNvPr>
          <p:cNvSpPr>
            <a:spLocks xmlns:a="http://schemas.openxmlformats.org/drawingml/2006/main" noGrp="1"/>
          </p:cNvSpPr>
          <p:nvPr/>
        </p:nvSpPr>
        <p:spPr>
          <a:xfrm xmlns:a="http://schemas.openxmlformats.org/drawingml/2006/main">
            <a:off x="636770" y="3192363"/>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1</a:t>
            </a:r>
            <a:endParaRPr sz="1050"/>
          </a:p>
        </p:txBody>
      </p:sp>
      <p:sp>
        <p:nvSpPr>
          <p:cNvPr id="8" name="Text 6">
            <a:extLst xmlns:a="http://schemas.openxmlformats.org/drawingml/2006/main">
              <a:ext uri="{FF2B5EF4-FFF2-40B4-BE49-F238E27FC236}">
                <a16:creationId xmlns:a16="http://schemas.microsoft.com/office/drawing/2014/main" id="{629CFE5B-5919-4C74-9023-CEAD7341E9A9}"/>
              </a:ext>
            </a:extLst>
          </p:cNvPr>
          <p:cNvSpPr>
            <a:spLocks xmlns:a="http://schemas.openxmlformats.org/drawingml/2006/main" noGrp="1"/>
          </p:cNvSpPr>
          <p:nvPr/>
        </p:nvSpPr>
        <p:spPr>
          <a:xfrm xmlns:a="http://schemas.openxmlformats.org/drawingml/2006/main">
            <a:off x="919140" y="3097113"/>
            <a:ext cx="6050506"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选题背景：自然语言交互与实体时空强约束的冲突</a:t>
            </a:r>
            <a:endParaRPr sz="1500"/>
          </a:p>
        </p:txBody>
      </p:sp>
      <p:sp>
        <p:nvSpPr>
          <p:cNvPr id="9" name="Shape 7">
            <a:extLst xmlns:a="http://schemas.openxmlformats.org/drawingml/2006/main">
              <a:ext uri="{FF2B5EF4-FFF2-40B4-BE49-F238E27FC236}">
                <a16:creationId xmlns:a16="http://schemas.microsoft.com/office/drawing/2014/main" id="{67FFBA01-D0E7-414E-9F0F-C4FA88464B16}"/>
              </a:ext>
            </a:extLst>
          </p:cNvPr>
          <p:cNvSpPr>
            <a:spLocks xmlns:a="http://schemas.openxmlformats.org/drawingml/2006/main" noGrp="1"/>
          </p:cNvSpPr>
          <p:nvPr/>
        </p:nvSpPr>
        <p:spPr>
          <a:xfrm xmlns:a="http://schemas.openxmlformats.org/drawingml/2006/main">
            <a:off x="558786" y="3573363"/>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0" name="Text 8">
            <a:extLst xmlns:a="http://schemas.openxmlformats.org/drawingml/2006/main">
              <a:ext uri="{FF2B5EF4-FFF2-40B4-BE49-F238E27FC236}">
                <a16:creationId xmlns:a16="http://schemas.microsoft.com/office/drawing/2014/main" id="{0A6A1036-6805-4986-8A7C-8C75E7ABF8CE}"/>
              </a:ext>
            </a:extLst>
          </p:cNvPr>
          <p:cNvSpPr>
            <a:spLocks xmlns:a="http://schemas.openxmlformats.org/drawingml/2006/main" noGrp="1"/>
          </p:cNvSpPr>
          <p:nvPr/>
        </p:nvSpPr>
        <p:spPr>
          <a:xfrm xmlns:a="http://schemas.openxmlformats.org/drawingml/2006/main">
            <a:off x="636770" y="3623370"/>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2</a:t>
            </a:r>
            <a:endParaRPr sz="1050"/>
          </a:p>
        </p:txBody>
      </p:sp>
      <p:sp>
        <p:nvSpPr>
          <p:cNvPr id="11" name="Text 9">
            <a:extLst xmlns:a="http://schemas.openxmlformats.org/drawingml/2006/main">
              <a:ext uri="{FF2B5EF4-FFF2-40B4-BE49-F238E27FC236}">
                <a16:creationId xmlns:a16="http://schemas.microsoft.com/office/drawing/2014/main" id="{947431F6-5319-45C3-B3F8-073C1D8701E1}"/>
              </a:ext>
            </a:extLst>
          </p:cNvPr>
          <p:cNvSpPr>
            <a:spLocks xmlns:a="http://schemas.openxmlformats.org/drawingml/2006/main" noGrp="1"/>
          </p:cNvSpPr>
          <p:nvPr/>
        </p:nvSpPr>
        <p:spPr>
          <a:xfrm xmlns:a="http://schemas.openxmlformats.org/drawingml/2006/main">
            <a:off x="919140" y="3528120"/>
            <a:ext cx="6050506"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研究意义：大模型需求抽取与确定性算法解耦协同</a:t>
            </a:r>
            <a:endParaRPr sz="1500"/>
          </a:p>
        </p:txBody>
      </p:sp>
      <p:sp>
        <p:nvSpPr>
          <p:cNvPr id="12" name="Shape 10">
            <a:extLst xmlns:a="http://schemas.openxmlformats.org/drawingml/2006/main">
              <a:ext uri="{FF2B5EF4-FFF2-40B4-BE49-F238E27FC236}">
                <a16:creationId xmlns:a16="http://schemas.microsoft.com/office/drawing/2014/main" id="{448CFB6F-E43E-4BBA-91D6-D4840476D3EB}"/>
              </a:ext>
            </a:extLst>
          </p:cNvPr>
          <p:cNvSpPr>
            <a:spLocks xmlns:a="http://schemas.openxmlformats.org/drawingml/2006/main" noGrp="1"/>
          </p:cNvSpPr>
          <p:nvPr/>
        </p:nvSpPr>
        <p:spPr>
          <a:xfrm xmlns:a="http://schemas.openxmlformats.org/drawingml/2006/main">
            <a:off x="558786" y="4004370"/>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3" name="Text 11">
            <a:extLst xmlns:a="http://schemas.openxmlformats.org/drawingml/2006/main">
              <a:ext uri="{FF2B5EF4-FFF2-40B4-BE49-F238E27FC236}">
                <a16:creationId xmlns:a16="http://schemas.microsoft.com/office/drawing/2014/main" id="{18FB27B6-B980-4110-BFEA-617C41300568}"/>
              </a:ext>
            </a:extLst>
          </p:cNvPr>
          <p:cNvSpPr>
            <a:spLocks xmlns:a="http://schemas.openxmlformats.org/drawingml/2006/main" noGrp="1"/>
          </p:cNvSpPr>
          <p:nvPr/>
        </p:nvSpPr>
        <p:spPr>
          <a:xfrm xmlns:a="http://schemas.openxmlformats.org/drawingml/2006/main">
            <a:off x="636770" y="4054376"/>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3</a:t>
            </a:r>
            <a:endParaRPr sz="1050"/>
          </a:p>
        </p:txBody>
      </p:sp>
      <p:sp>
        <p:nvSpPr>
          <p:cNvPr id="14" name="Text 12">
            <a:extLst xmlns:a="http://schemas.openxmlformats.org/drawingml/2006/main">
              <a:ext uri="{FF2B5EF4-FFF2-40B4-BE49-F238E27FC236}">
                <a16:creationId xmlns:a16="http://schemas.microsoft.com/office/drawing/2014/main" id="{65A99CED-0E14-44A5-9E67-E49F96531AA3}"/>
              </a:ext>
            </a:extLst>
          </p:cNvPr>
          <p:cNvSpPr>
            <a:spLocks xmlns:a="http://schemas.openxmlformats.org/drawingml/2006/main" noGrp="1"/>
          </p:cNvSpPr>
          <p:nvPr/>
        </p:nvSpPr>
        <p:spPr>
          <a:xfrm xmlns:a="http://schemas.openxmlformats.org/drawingml/2006/main">
            <a:off x="919140" y="3959126"/>
            <a:ext cx="6050506"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技术路线：普通即时问答与复杂排程的双模式架构</a:t>
            </a:r>
            <a:endParaRPr sz="1500"/>
          </a:p>
        </p:txBody>
      </p:sp>
      <p:sp>
        <p:nvSpPr>
          <p:cNvPr id="15" name="Shape 13">
            <a:extLst xmlns:a="http://schemas.openxmlformats.org/drawingml/2006/main">
              <a:ext uri="{FF2B5EF4-FFF2-40B4-BE49-F238E27FC236}">
                <a16:creationId xmlns:a16="http://schemas.microsoft.com/office/drawing/2014/main" id="{6A63349A-ADDA-44DC-825B-7A9B4D140101}"/>
              </a:ext>
            </a:extLst>
          </p:cNvPr>
          <p:cNvSpPr>
            <a:spLocks xmlns:a="http://schemas.openxmlformats.org/drawingml/2006/main" noGrp="1"/>
          </p:cNvSpPr>
          <p:nvPr/>
        </p:nvSpPr>
        <p:spPr>
          <a:xfrm xmlns:a="http://schemas.openxmlformats.org/drawingml/2006/main">
            <a:off x="558786" y="4435376"/>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6" name="Text 14">
            <a:extLst xmlns:a="http://schemas.openxmlformats.org/drawingml/2006/main">
              <a:ext uri="{FF2B5EF4-FFF2-40B4-BE49-F238E27FC236}">
                <a16:creationId xmlns:a16="http://schemas.microsoft.com/office/drawing/2014/main" id="{0B070D07-DAEA-4100-8C6F-7805ADFFB0D6}"/>
              </a:ext>
            </a:extLst>
          </p:cNvPr>
          <p:cNvSpPr>
            <a:spLocks xmlns:a="http://schemas.openxmlformats.org/drawingml/2006/main" noGrp="1"/>
          </p:cNvSpPr>
          <p:nvPr/>
        </p:nvSpPr>
        <p:spPr>
          <a:xfrm xmlns:a="http://schemas.openxmlformats.org/drawingml/2006/main">
            <a:off x="636770" y="4485382"/>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4</a:t>
            </a:r>
            <a:endParaRPr sz="1050"/>
          </a:p>
        </p:txBody>
      </p:sp>
      <p:sp>
        <p:nvSpPr>
          <p:cNvPr id="17" name="Text 15">
            <a:extLst xmlns:a="http://schemas.openxmlformats.org/drawingml/2006/main">
              <a:ext uri="{FF2B5EF4-FFF2-40B4-BE49-F238E27FC236}">
                <a16:creationId xmlns:a16="http://schemas.microsoft.com/office/drawing/2014/main" id="{2A2F34B6-CAEA-4897-8830-72D2506F081C}"/>
              </a:ext>
            </a:extLst>
          </p:cNvPr>
          <p:cNvSpPr>
            <a:spLocks xmlns:a="http://schemas.openxmlformats.org/drawingml/2006/main" noGrp="1"/>
          </p:cNvSpPr>
          <p:nvPr/>
        </p:nvSpPr>
        <p:spPr>
          <a:xfrm xmlns:a="http://schemas.openxmlformats.org/drawingml/2006/main">
            <a:off x="919140" y="4390132"/>
            <a:ext cx="6050506"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核心实现：MySQL/Chroma混合检索与动态插点校验</a:t>
            </a:r>
            <a:endParaRPr sz="1500"/>
          </a:p>
        </p:txBody>
      </p:sp>
      <p:sp>
        <p:nvSpPr>
          <p:cNvPr id="18" name="Shape 16">
            <a:extLst xmlns:a="http://schemas.openxmlformats.org/drawingml/2006/main">
              <a:ext uri="{FF2B5EF4-FFF2-40B4-BE49-F238E27FC236}">
                <a16:creationId xmlns:a16="http://schemas.microsoft.com/office/drawing/2014/main" id="{F97ECCBB-1190-44B0-BECB-DEAA460C4B12}"/>
              </a:ext>
            </a:extLst>
          </p:cNvPr>
          <p:cNvSpPr>
            <a:spLocks xmlns:a="http://schemas.openxmlformats.org/drawingml/2006/main" noGrp="1"/>
          </p:cNvSpPr>
          <p:nvPr/>
        </p:nvSpPr>
        <p:spPr>
          <a:xfrm xmlns:a="http://schemas.openxmlformats.org/drawingml/2006/main">
            <a:off x="558786" y="4866382"/>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9" name="Text 17">
            <a:extLst xmlns:a="http://schemas.openxmlformats.org/drawingml/2006/main">
              <a:ext uri="{FF2B5EF4-FFF2-40B4-BE49-F238E27FC236}">
                <a16:creationId xmlns:a16="http://schemas.microsoft.com/office/drawing/2014/main" id="{40156366-A7B8-4119-8E90-8CC93BB4E846}"/>
              </a:ext>
            </a:extLst>
          </p:cNvPr>
          <p:cNvSpPr>
            <a:spLocks xmlns:a="http://schemas.openxmlformats.org/drawingml/2006/main" noGrp="1"/>
          </p:cNvSpPr>
          <p:nvPr/>
        </p:nvSpPr>
        <p:spPr>
          <a:xfrm xmlns:a="http://schemas.openxmlformats.org/drawingml/2006/main">
            <a:off x="636770" y="4916388"/>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5</a:t>
            </a:r>
            <a:endParaRPr sz="1050"/>
          </a:p>
        </p:txBody>
      </p:sp>
      <p:sp>
        <p:nvSpPr>
          <p:cNvPr id="20" name="Text 18">
            <a:extLst xmlns:a="http://schemas.openxmlformats.org/drawingml/2006/main">
              <a:ext uri="{FF2B5EF4-FFF2-40B4-BE49-F238E27FC236}">
                <a16:creationId xmlns:a16="http://schemas.microsoft.com/office/drawing/2014/main" id="{C3F686FB-20C9-4B26-A061-4AF61E251F74}"/>
              </a:ext>
            </a:extLst>
          </p:cNvPr>
          <p:cNvSpPr>
            <a:spLocks xmlns:a="http://schemas.openxmlformats.org/drawingml/2006/main" noGrp="1"/>
          </p:cNvSpPr>
          <p:nvPr/>
        </p:nvSpPr>
        <p:spPr>
          <a:xfrm xmlns:a="http://schemas.openxmlformats.org/drawingml/2006/main">
            <a:off x="919140" y="4821138"/>
            <a:ext cx="6050506"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工程进度与评价指标：全周期14周计划与消融对比</a:t>
            </a:r>
            <a:endParaRPr sz="1500"/>
          </a:p>
        </p:txBody>
      </p:sp>
      <p:sp>
        <p:nvSpPr>
          <p:cNvPr id="21" name="Text 19">
            <a:extLst xmlns:a="http://schemas.openxmlformats.org/drawingml/2006/main">
              <a:ext uri="{FF2B5EF4-FFF2-40B4-BE49-F238E27FC236}">
                <a16:creationId xmlns:a16="http://schemas.microsoft.com/office/drawing/2014/main" id="{80E547B3-1624-440E-9342-2416D76F2D36}"/>
              </a:ext>
            </a:extLst>
          </p:cNvPr>
          <p:cNvSpPr>
            <a:spLocks xmlns:a="http://schemas.openxmlformats.org/drawingml/2006/main" noGrp="1"/>
          </p:cNvSpPr>
          <p:nvPr/>
        </p:nvSpPr>
        <p:spPr>
          <a:xfrm xmlns:a="http://schemas.openxmlformats.org/drawingml/2006/main">
            <a:off x="558786" y="5263852"/>
            <a:ext cx="6969645" cy="19714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1150" spc="6">
                <a:solidFill>
                  <a:srgbClr val="1B4A9B"/>
                </a:solidFill>
                <a:latin typeface="Noto Sans SC Medium"/>
                <a:ea typeface="Noto Sans SC Medium"/>
                <a:cs typeface="Noto Sans SC Medium"/>
              </a:rPr>
              <a:t>泉州师范学院数计学院 · 软件工程专业 · 学生：钱潮怡宁（231308009） · 指导教师：林威</a:t>
            </a:r>
            <a:endParaRPr sz="1150"/>
          </a:p>
        </p:txBody>
      </p:sp>
      <p:sp>
        <p:nvSpPr>
          <p:cNvPr id="22" name="Shape 20">
            <a:extLst xmlns:a="http://schemas.openxmlformats.org/drawingml/2006/main">
              <a:ext uri="{FF2B5EF4-FFF2-40B4-BE49-F238E27FC236}">
                <a16:creationId xmlns:a16="http://schemas.microsoft.com/office/drawing/2014/main" id="{0BF8432C-9D65-4CF3-BC88-38C57725679A}"/>
              </a:ext>
            </a:extLst>
          </p:cNvPr>
          <p:cNvSpPr>
            <a:spLocks xmlns:a="http://schemas.openxmlformats.org/drawingml/2006/main" noGrp="1"/>
          </p:cNvSpPr>
          <p:nvPr/>
        </p:nvSpPr>
        <p:spPr>
          <a:xfrm xmlns:a="http://schemas.openxmlformats.org/drawingml/2006/main">
            <a:off x="8391910" y="558800"/>
            <a:ext cx="3240999" cy="3241080"/>
          </a:xfrm>
          <a:prstGeom xmlns:a="http://schemas.openxmlformats.org/drawingml/2006/main" prst="rect">
            <a:avLst/>
          </a:prstGeom>
          <a:solidFill xmlns:a="http://schemas.openxmlformats.org/drawingml/2006/main">
            <a:srgbClr val="FFFFFF"/>
          </a:solidFill>
          <a:ln xmlns:a="http://schemas.openxmlformats.org/drawingml/2006/main" w="6350">
            <a:solidFill>
              <a:srgbClr val="1B4A9B"/>
            </a:solidFill>
            <a:prstDash val="solid"/>
          </a:ln>
        </p:spPr>
      </p:sp>
      <p:pic>
        <p:nvPicPr>
          <p:cNvPr id="49" name="Image 0"/>
          <p:cNvPicPr>
            <a:picLocks xmlns:a="http://schemas.openxmlformats.org/drawingml/2006/main" noChangeAspect="1"/>
          </p:cNvPicPr>
          <p:nvPr/>
        </p:nvPicPr>
        <p:blipFill>
          <a:blip xmlns:r="http://schemas.openxmlformats.org/officeDocument/2006/relationships" xmlns:a="http://schemas.openxmlformats.org/drawingml/2006/main" r:embed="R25c0b64d80674154"/>
          <a:stretch xmlns:a="http://schemas.openxmlformats.org/drawingml/2006/main">
            <a:fillRect l="0" t="0" r="0" b="0"/>
          </a:stretch>
        </p:blipFill>
        <p:spPr>
          <a:xfrm xmlns:a="http://schemas.openxmlformats.org/drawingml/2006/main">
            <a:off x="8525257" y="692150"/>
            <a:ext cx="2974305" cy="2974380"/>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3F58E313-EAD5-4B80-8492-39CE1C81A7B8}"/>
              </a:ext>
            </a:extLst>
          </p:cNvPr>
          <p:cNvSpPr>
            <a:spLocks xmlns:a="http://schemas.openxmlformats.org/drawingml/2006/main" noGrp="1"/>
          </p:cNvSpPr>
          <p:nvPr/>
        </p:nvSpPr>
        <p:spPr>
          <a:xfrm xmlns:a="http://schemas.openxmlformats.org/drawingml/2006/main">
            <a:off x="8391910" y="3869730"/>
            <a:ext cx="3240999" cy="39429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3000"/>
              </a:lnSpc>
              <a:buNone/>
            </a:pPr>
            <a:r>
              <a:rPr sz="1150" spc="6">
                <a:solidFill>
                  <a:srgbClr val="1B4A9B"/>
                </a:solidFill>
                <a:latin typeface="Noto Sans SC Medium"/>
                <a:ea typeface="Noto Sans SC Medium"/>
                <a:cs typeface="Noto Sans SC Medium"/>
              </a:rPr>
              <a:t>图 1.1 大语言模型生成能力与确定性时空规划协同范式</a:t>
            </a:r>
            <a:endParaRPr sz="1150"/>
          </a:p>
        </p:txBody>
      </p:sp>
      <p:sp>
        <p:nvSpPr>
          <p:cNvPr id="25" name="Shape 22">
            <a:extLst xmlns:a="http://schemas.openxmlformats.org/drawingml/2006/main">
              <a:ext uri="{FF2B5EF4-FFF2-40B4-BE49-F238E27FC236}">
                <a16:creationId xmlns:a16="http://schemas.microsoft.com/office/drawing/2014/main" id="{39D064B1-EAE1-430B-BA92-055D4D781E8C}"/>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26" name="Text 23">
            <a:extLst xmlns:a="http://schemas.openxmlformats.org/drawingml/2006/main">
              <a:ext uri="{FF2B5EF4-FFF2-40B4-BE49-F238E27FC236}">
                <a16:creationId xmlns:a16="http://schemas.microsoft.com/office/drawing/2014/main" id="{D2765485-D05B-4DD8-92B4-FC0082DD229F}"/>
              </a:ext>
            </a:extLst>
          </p:cNvPr>
          <p:cNvSpPr>
            <a:spLocks xmlns:a="http://schemas.openxmlformats.org/drawingml/2006/main" noGrp="1"/>
          </p:cNvSpPr>
          <p:nvPr/>
        </p:nvSpPr>
        <p:spPr>
          <a:xfrm xmlns:a="http://schemas.openxmlformats.org/drawingml/2006/main">
            <a:off x="11565839" y="6351389"/>
            <a:ext cx="625856"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1</a:t>
            </a:r>
            <a:endParaRPr sz="950"/>
          </a:p>
        </p:txBody>
      </p:sp>
    </p:spTree>
    <p:extLst>
      <p:ext uri="{BB962C8B-B14F-4D97-AF65-F5344CB8AC3E}">
        <p14:creationId xmlns:p14="http://schemas.microsoft.com/office/powerpoint/2010/main" val="1256298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EC1C544-3160-4C47-9D7E-3EA40D360E83}"/>
              </a:ext>
            </a:extLst>
          </p:cNvPr>
          <p:cNvSpPr>
            <a:spLocks xmlns:a="http://schemas.openxmlformats.org/drawingml/2006/main" noGrp="1"/>
          </p:cNvSpPr>
          <p:nvPr/>
        </p:nvSpPr>
        <p:spPr>
          <a:xfrm xmlns:a="http://schemas.openxmlformats.org/drawingml/2006/main">
            <a:off x="0" y="0"/>
            <a:ext cx="12191695" cy="2399308"/>
          </a:xfrm>
          <a:prstGeom xmlns:a="http://schemas.openxmlformats.org/drawingml/2006/main" prst="rect">
            <a:avLst/>
          </a:prstGeom>
          <a:solidFill xmlns:a="http://schemas.openxmlformats.org/drawingml/2006/main">
            <a:srgbClr val="EAF1FB"/>
          </a:solidFill>
        </p:spPr>
      </p:sp>
      <p:sp>
        <p:nvSpPr>
          <p:cNvPr id="3" name="Text 1">
            <a:extLst xmlns:a="http://schemas.openxmlformats.org/drawingml/2006/main">
              <a:ext uri="{FF2B5EF4-FFF2-40B4-BE49-F238E27FC236}">
                <a16:creationId xmlns:a16="http://schemas.microsoft.com/office/drawing/2014/main" id="{7EF22605-6BB4-4924-888E-976453EF5548}"/>
              </a:ext>
            </a:extLst>
          </p:cNvPr>
          <p:cNvSpPr>
            <a:spLocks xmlns:a="http://schemas.openxmlformats.org/drawingml/2006/main" noGrp="1"/>
          </p:cNvSpPr>
          <p:nvPr/>
        </p:nvSpPr>
        <p:spPr>
          <a:xfrm xmlns:a="http://schemas.openxmlformats.org/drawingml/2006/main">
            <a:off x="558786" y="558800"/>
            <a:ext cx="11632909" cy="2063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spc="13">
                <a:solidFill>
                  <a:srgbClr val="1B4A9B"/>
                </a:solidFill>
                <a:latin typeface="Noto Sans SC SemiBold"/>
                <a:ea typeface="Noto Sans SC SemiBold"/>
                <a:cs typeface="Noto Sans SC SemiBold"/>
              </a:rPr>
              <a:t>选题背景 · 现状与核心痛点</a:t>
            </a:r>
            <a:endParaRPr sz="1300"/>
          </a:p>
        </p:txBody>
      </p:sp>
      <p:sp>
        <p:nvSpPr>
          <p:cNvPr id="4" name="Text 2">
            <a:extLst xmlns:a="http://schemas.openxmlformats.org/drawingml/2006/main">
              <a:ext uri="{FF2B5EF4-FFF2-40B4-BE49-F238E27FC236}">
                <a16:creationId xmlns:a16="http://schemas.microsoft.com/office/drawing/2014/main" id="{39493038-98B9-4DFE-8DF0-A30DA2FA48A0}"/>
              </a:ext>
            </a:extLst>
          </p:cNvPr>
          <p:cNvSpPr>
            <a:spLocks xmlns:a="http://schemas.openxmlformats.org/drawingml/2006/main" noGrp="1"/>
          </p:cNvSpPr>
          <p:nvPr/>
        </p:nvSpPr>
        <p:spPr>
          <a:xfrm xmlns:a="http://schemas.openxmlformats.org/drawingml/2006/main">
            <a:off x="558786" y="835025"/>
            <a:ext cx="11074123" cy="5334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4000" b="1" spc="-20">
                <a:solidFill>
                  <a:srgbClr val="1B4A9B"/>
                </a:solidFill>
                <a:latin typeface="Noto Sans SC Bold"/>
                <a:ea typeface="Noto Sans SC Bold"/>
                <a:cs typeface="Noto Sans SC Bold"/>
              </a:rPr>
              <a:t>选题背景：自然语言易表达，可靠行程难规划</a:t>
            </a:r>
            <a:endParaRPr sz="4000"/>
          </a:p>
        </p:txBody>
      </p:sp>
      <p:sp>
        <p:nvSpPr>
          <p:cNvPr id="5" name="Text 3">
            <a:extLst xmlns:a="http://schemas.openxmlformats.org/drawingml/2006/main">
              <a:ext uri="{FF2B5EF4-FFF2-40B4-BE49-F238E27FC236}">
                <a16:creationId xmlns:a16="http://schemas.microsoft.com/office/drawing/2014/main" id="{D78B2DFD-51D8-4990-8F5C-ABF440129EDE}"/>
              </a:ext>
            </a:extLst>
          </p:cNvPr>
          <p:cNvSpPr>
            <a:spLocks xmlns:a="http://schemas.openxmlformats.org/drawingml/2006/main" noGrp="1"/>
          </p:cNvSpPr>
          <p:nvPr/>
        </p:nvSpPr>
        <p:spPr>
          <a:xfrm xmlns:a="http://schemas.openxmlformats.org/drawingml/2006/main">
            <a:off x="558786" y="1536700"/>
            <a:ext cx="11632909" cy="3038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650">
                <a:solidFill>
                  <a:srgbClr val="1A1A1A"/>
                </a:solidFill>
                <a:latin typeface="Noto Sans SC"/>
                <a:ea typeface="Noto Sans SC"/>
                <a:cs typeface="Noto Sans SC"/>
              </a:rPr>
              <a:t>自由行规划需兼顾主观语义匹配与客观时空硬约束，二者计算范式天然冲突。</a:t>
            </a:r>
            <a:endParaRPr sz="1650"/>
          </a:p>
        </p:txBody>
      </p:sp>
      <p:sp>
        <p:nvSpPr>
          <p:cNvPr id="6" name="Text 4">
            <a:extLst xmlns:a="http://schemas.openxmlformats.org/drawingml/2006/main">
              <a:ext uri="{FF2B5EF4-FFF2-40B4-BE49-F238E27FC236}">
                <a16:creationId xmlns:a16="http://schemas.microsoft.com/office/drawing/2014/main" id="{F023AA80-EED2-49B0-A98A-FADBC7C01640}"/>
              </a:ext>
            </a:extLst>
          </p:cNvPr>
          <p:cNvSpPr>
            <a:spLocks xmlns:a="http://schemas.openxmlformats.org/drawingml/2006/main" noGrp="1"/>
          </p:cNvSpPr>
          <p:nvPr/>
        </p:nvSpPr>
        <p:spPr>
          <a:xfrm xmlns:a="http://schemas.openxmlformats.org/drawingml/2006/main">
            <a:off x="558786" y="3206552"/>
            <a:ext cx="3488146"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时空约束多重耦合</a:t>
            </a:r>
            <a:endParaRPr sz="1650"/>
          </a:p>
        </p:txBody>
      </p:sp>
      <p:sp>
        <p:nvSpPr>
          <p:cNvPr id="7" name="Text 5">
            <a:extLst xmlns:a="http://schemas.openxmlformats.org/drawingml/2006/main">
              <a:ext uri="{FF2B5EF4-FFF2-40B4-BE49-F238E27FC236}">
                <a16:creationId xmlns:a16="http://schemas.microsoft.com/office/drawing/2014/main" id="{D3305E90-8AED-42ED-B5DB-E2AE8663ECAC}"/>
              </a:ext>
            </a:extLst>
          </p:cNvPr>
          <p:cNvSpPr>
            <a:spLocks xmlns:a="http://schemas.openxmlformats.org/drawingml/2006/main" noGrp="1"/>
          </p:cNvSpPr>
          <p:nvPr/>
        </p:nvSpPr>
        <p:spPr>
          <a:xfrm xmlns:a="http://schemas.openxmlformats.org/drawingml/2006/main">
            <a:off x="558786" y="3599557"/>
            <a:ext cx="3488146"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自由行需同时解答“去哪里值得”与“一天能否走完”。兴趣偏好、开放时段、路网耗时与疲劳阈值必须共同参与求解。</a:t>
            </a:r>
            <a:endParaRPr sz="1350"/>
          </a:p>
        </p:txBody>
      </p:sp>
      <p:sp>
        <p:nvSpPr>
          <p:cNvPr id="8" name="Shape 6">
            <a:extLst xmlns:a="http://schemas.openxmlformats.org/drawingml/2006/main">
              <a:ext uri="{FF2B5EF4-FFF2-40B4-BE49-F238E27FC236}">
                <a16:creationId xmlns:a16="http://schemas.microsoft.com/office/drawing/2014/main" id="{1F58770C-3CC1-489B-AA05-A621AC9F1557}"/>
              </a:ext>
            </a:extLst>
          </p:cNvPr>
          <p:cNvSpPr>
            <a:spLocks xmlns:a="http://schemas.openxmlformats.org/drawingml/2006/main" noGrp="1"/>
          </p:cNvSpPr>
          <p:nvPr/>
        </p:nvSpPr>
        <p:spPr>
          <a:xfrm xmlns:a="http://schemas.openxmlformats.org/drawingml/2006/main">
            <a:off x="558786" y="4489648"/>
            <a:ext cx="3488146" cy="31651"/>
          </a:xfrm>
          <a:prstGeom xmlns:a="http://schemas.openxmlformats.org/drawingml/2006/main" prst="roundRect">
            <a:avLst>
              <a:gd name="adj" fmla="val 49998"/>
            </a:avLst>
          </a:prstGeom>
          <a:solidFill xmlns:a="http://schemas.openxmlformats.org/drawingml/2006/main">
            <a:srgbClr val="1B4A9B"/>
          </a:solidFill>
        </p:spPr>
      </p:sp>
      <p:sp>
        <p:nvSpPr>
          <p:cNvPr id="9" name="Text 7">
            <a:extLst xmlns:a="http://schemas.openxmlformats.org/drawingml/2006/main">
              <a:ext uri="{FF2B5EF4-FFF2-40B4-BE49-F238E27FC236}">
                <a16:creationId xmlns:a16="http://schemas.microsoft.com/office/drawing/2014/main" id="{655AF371-2B9E-4FD9-AC25-AE81077111EE}"/>
              </a:ext>
            </a:extLst>
          </p:cNvPr>
          <p:cNvSpPr>
            <a:spLocks xmlns:a="http://schemas.openxmlformats.org/drawingml/2006/main" noGrp="1"/>
          </p:cNvSpPr>
          <p:nvPr/>
        </p:nvSpPr>
        <p:spPr>
          <a:xfrm xmlns:a="http://schemas.openxmlformats.org/drawingml/2006/main">
            <a:off x="558786" y="4665861"/>
            <a:ext cx="3488146" cy="19714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1150" spc="6">
                <a:solidFill>
                  <a:srgbClr val="1B4A9B"/>
                </a:solidFill>
                <a:latin typeface="Noto Sans SC Medium"/>
                <a:ea typeface="Noto Sans SC Medium"/>
                <a:cs typeface="Noto Sans SC Medium"/>
              </a:rPr>
              <a:t>硬约束：地理距离、营业窗口、体能负荷</a:t>
            </a:r>
            <a:endParaRPr sz="1150"/>
          </a:p>
        </p:txBody>
      </p:sp>
      <p:sp>
        <p:nvSpPr>
          <p:cNvPr id="10" name="Text 8">
            <a:extLst xmlns:a="http://schemas.openxmlformats.org/drawingml/2006/main">
              <a:ext uri="{FF2B5EF4-FFF2-40B4-BE49-F238E27FC236}">
                <a16:creationId xmlns:a16="http://schemas.microsoft.com/office/drawing/2014/main" id="{0294FDD8-3CEF-4B27-AF07-B61F9488EFF7}"/>
              </a:ext>
            </a:extLst>
          </p:cNvPr>
          <p:cNvSpPr>
            <a:spLocks xmlns:a="http://schemas.openxmlformats.org/drawingml/2006/main" noGrp="1"/>
          </p:cNvSpPr>
          <p:nvPr/>
        </p:nvSpPr>
        <p:spPr>
          <a:xfrm xmlns:a="http://schemas.openxmlformats.org/drawingml/2006/main">
            <a:off x="4351725" y="3206552"/>
            <a:ext cx="3488146"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模型幻觉与不可行性</a:t>
            </a:r>
            <a:endParaRPr sz="1650"/>
          </a:p>
        </p:txBody>
      </p:sp>
      <p:sp>
        <p:nvSpPr>
          <p:cNvPr id="11" name="Text 9">
            <a:extLst xmlns:a="http://schemas.openxmlformats.org/drawingml/2006/main">
              <a:ext uri="{FF2B5EF4-FFF2-40B4-BE49-F238E27FC236}">
                <a16:creationId xmlns:a16="http://schemas.microsoft.com/office/drawing/2014/main" id="{C5378C6C-ED6F-4D58-A5C1-D584221F0968}"/>
              </a:ext>
            </a:extLst>
          </p:cNvPr>
          <p:cNvSpPr>
            <a:spLocks xmlns:a="http://schemas.openxmlformats.org/drawingml/2006/main" noGrp="1"/>
          </p:cNvSpPr>
          <p:nvPr/>
        </p:nvSpPr>
        <p:spPr>
          <a:xfrm xmlns:a="http://schemas.openxmlformats.org/drawingml/2006/main">
            <a:off x="4351725" y="3599557"/>
            <a:ext cx="3488146"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9838"/>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TravelPlanner 是旅行规划评测基准；研究显示，模型在多重约束下仍可能生成不合规行程。</a:t>
            </a:r>
            <a:endParaRPr sz="1350"/>
          </a:p>
        </p:txBody>
      </p:sp>
      <p:sp>
        <p:nvSpPr>
          <p:cNvPr id="12" name="Shape 10">
            <a:extLst xmlns:a="http://schemas.openxmlformats.org/drawingml/2006/main">
              <a:ext uri="{FF2B5EF4-FFF2-40B4-BE49-F238E27FC236}">
                <a16:creationId xmlns:a16="http://schemas.microsoft.com/office/drawing/2014/main" id="{EE501C8E-092E-4041-8B9E-DE1F1FF68A0C}"/>
              </a:ext>
            </a:extLst>
          </p:cNvPr>
          <p:cNvSpPr>
            <a:spLocks xmlns:a="http://schemas.openxmlformats.org/drawingml/2006/main" noGrp="1"/>
          </p:cNvSpPr>
          <p:nvPr/>
        </p:nvSpPr>
        <p:spPr>
          <a:xfrm xmlns:a="http://schemas.openxmlformats.org/drawingml/2006/main">
            <a:off x="4351725" y="4489648"/>
            <a:ext cx="3488146" cy="31651"/>
          </a:xfrm>
          <a:prstGeom xmlns:a="http://schemas.openxmlformats.org/drawingml/2006/main" prst="roundRect">
            <a:avLst>
              <a:gd name="adj" fmla="val 49998"/>
            </a:avLst>
          </a:prstGeom>
          <a:solidFill xmlns:a="http://schemas.openxmlformats.org/drawingml/2006/main">
            <a:srgbClr val="1B4A9B"/>
          </a:solidFill>
        </p:spPr>
      </p:sp>
      <p:sp>
        <p:nvSpPr>
          <p:cNvPr id="13" name="Text 11">
            <a:extLst xmlns:a="http://schemas.openxmlformats.org/drawingml/2006/main">
              <a:ext uri="{FF2B5EF4-FFF2-40B4-BE49-F238E27FC236}">
                <a16:creationId xmlns:a16="http://schemas.microsoft.com/office/drawing/2014/main" id="{50CC3A1B-BF71-4BEC-BF04-3D8BB53A1C69}"/>
              </a:ext>
            </a:extLst>
          </p:cNvPr>
          <p:cNvSpPr>
            <a:spLocks xmlns:a="http://schemas.openxmlformats.org/drawingml/2006/main" noGrp="1"/>
          </p:cNvSpPr>
          <p:nvPr/>
        </p:nvSpPr>
        <p:spPr>
          <a:xfrm xmlns:a="http://schemas.openxmlformats.org/drawingml/2006/main">
            <a:off x="4351725" y="4665861"/>
            <a:ext cx="3488146" cy="19714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1150" spc="6">
                <a:solidFill>
                  <a:srgbClr val="1B4A9B"/>
                </a:solidFill>
                <a:latin typeface="Noto Sans SC Medium"/>
                <a:ea typeface="Noto Sans SC Medium"/>
                <a:cs typeface="Noto Sans SC Medium"/>
              </a:rPr>
              <a:t>缺陷：虚构 POI、逆向绕路、时间倒流</a:t>
            </a:r>
            <a:endParaRPr sz="1150"/>
          </a:p>
        </p:txBody>
      </p:sp>
      <p:sp>
        <p:nvSpPr>
          <p:cNvPr id="14" name="Text 12">
            <a:extLst xmlns:a="http://schemas.openxmlformats.org/drawingml/2006/main">
              <a:ext uri="{FF2B5EF4-FFF2-40B4-BE49-F238E27FC236}">
                <a16:creationId xmlns:a16="http://schemas.microsoft.com/office/drawing/2014/main" id="{B05B06E3-188E-41BB-942F-5BED0D1D5058}"/>
              </a:ext>
            </a:extLst>
          </p:cNvPr>
          <p:cNvSpPr>
            <a:spLocks xmlns:a="http://schemas.openxmlformats.org/drawingml/2006/main" noGrp="1"/>
          </p:cNvSpPr>
          <p:nvPr/>
        </p:nvSpPr>
        <p:spPr>
          <a:xfrm xmlns:a="http://schemas.openxmlformats.org/drawingml/2006/main">
            <a:off x="8144663" y="3206552"/>
            <a:ext cx="3488246"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咨询与排程权责混淆</a:t>
            </a:r>
            <a:endParaRPr sz="1650"/>
          </a:p>
        </p:txBody>
      </p:sp>
      <p:sp>
        <p:nvSpPr>
          <p:cNvPr id="15" name="Text 13">
            <a:extLst xmlns:a="http://schemas.openxmlformats.org/drawingml/2006/main">
              <a:ext uri="{FF2B5EF4-FFF2-40B4-BE49-F238E27FC236}">
                <a16:creationId xmlns:a16="http://schemas.microsoft.com/office/drawing/2014/main" id="{2359D448-BDD9-48EC-AB70-717CDCA503FF}"/>
              </a:ext>
            </a:extLst>
          </p:cNvPr>
          <p:cNvSpPr>
            <a:spLocks xmlns:a="http://schemas.openxmlformats.org/drawingml/2006/main" noGrp="1"/>
          </p:cNvSpPr>
          <p:nvPr/>
        </p:nvSpPr>
        <p:spPr>
          <a:xfrm xmlns:a="http://schemas.openxmlformats.org/drawingml/2006/main">
            <a:off x="8144663" y="3599557"/>
            <a:ext cx="3488246"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旅游问答与正式履约排程决策成本迥异。常规对话适合即时工具交互，严谨排程则必须经确认需求、候选硬筛与算法可达性复核。</a:t>
            </a:r>
            <a:endParaRPr sz="1350"/>
          </a:p>
        </p:txBody>
      </p:sp>
      <p:sp>
        <p:nvSpPr>
          <p:cNvPr id="16" name="Shape 14">
            <a:extLst xmlns:a="http://schemas.openxmlformats.org/drawingml/2006/main">
              <a:ext uri="{FF2B5EF4-FFF2-40B4-BE49-F238E27FC236}">
                <a16:creationId xmlns:a16="http://schemas.microsoft.com/office/drawing/2014/main" id="{5440883F-8EA7-480B-AFB7-66B8B5C2BB97}"/>
              </a:ext>
            </a:extLst>
          </p:cNvPr>
          <p:cNvSpPr>
            <a:spLocks xmlns:a="http://schemas.openxmlformats.org/drawingml/2006/main" noGrp="1"/>
          </p:cNvSpPr>
          <p:nvPr/>
        </p:nvSpPr>
        <p:spPr>
          <a:xfrm xmlns:a="http://schemas.openxmlformats.org/drawingml/2006/main">
            <a:off x="8144663" y="4489648"/>
            <a:ext cx="3488146" cy="31651"/>
          </a:xfrm>
          <a:prstGeom xmlns:a="http://schemas.openxmlformats.org/drawingml/2006/main" prst="roundRect">
            <a:avLst>
              <a:gd name="adj" fmla="val 49998"/>
            </a:avLst>
          </a:prstGeom>
          <a:solidFill xmlns:a="http://schemas.openxmlformats.org/drawingml/2006/main">
            <a:srgbClr val="1B4A9B"/>
          </a:solidFill>
        </p:spPr>
      </p:sp>
      <p:sp>
        <p:nvSpPr>
          <p:cNvPr id="17" name="Text 15">
            <a:extLst xmlns:a="http://schemas.openxmlformats.org/drawingml/2006/main">
              <a:ext uri="{FF2B5EF4-FFF2-40B4-BE49-F238E27FC236}">
                <a16:creationId xmlns:a16="http://schemas.microsoft.com/office/drawing/2014/main" id="{873B2005-E9BD-41EB-8AD9-D0297AC038D0}"/>
              </a:ext>
            </a:extLst>
          </p:cNvPr>
          <p:cNvSpPr>
            <a:spLocks xmlns:a="http://schemas.openxmlformats.org/drawingml/2006/main" noGrp="1"/>
          </p:cNvSpPr>
          <p:nvPr/>
        </p:nvSpPr>
        <p:spPr>
          <a:xfrm xmlns:a="http://schemas.openxmlformats.org/drawingml/2006/main">
            <a:off x="8144663" y="4665861"/>
            <a:ext cx="3488246" cy="19714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1150" spc="6">
                <a:solidFill>
                  <a:srgbClr val="1B4A9B"/>
                </a:solidFill>
                <a:latin typeface="Noto Sans SC Medium"/>
                <a:ea typeface="Noto Sans SC Medium"/>
                <a:cs typeface="Noto Sans SC Medium"/>
              </a:rPr>
              <a:t>解法：双模式分流与状态机全流程治理</a:t>
            </a:r>
            <a:endParaRPr sz="1150"/>
          </a:p>
        </p:txBody>
      </p:sp>
      <p:sp>
        <p:nvSpPr>
          <p:cNvPr id="18" name="Text 16">
            <a:extLst xmlns:a="http://schemas.openxmlformats.org/drawingml/2006/main">
              <a:ext uri="{FF2B5EF4-FFF2-40B4-BE49-F238E27FC236}">
                <a16:creationId xmlns:a16="http://schemas.microsoft.com/office/drawing/2014/main" id="{0528A078-DF5B-476E-94EA-76A0706908BD}"/>
              </a:ext>
            </a:extLst>
          </p:cNvPr>
          <p:cNvSpPr>
            <a:spLocks xmlns:a="http://schemas.openxmlformats.org/drawingml/2006/main" noGrp="1"/>
          </p:cNvSpPr>
          <p:nvPr/>
        </p:nvSpPr>
        <p:spPr>
          <a:xfrm xmlns:a="http://schemas.openxmlformats.org/drawingml/2006/main">
            <a:off x="558786" y="5015409"/>
            <a:ext cx="11632909" cy="19714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1150" spc="6">
                <a:solidFill>
                  <a:srgbClr val="1B4A9B"/>
                </a:solidFill>
                <a:latin typeface="Noto Sans SC Medium"/>
                <a:ea typeface="Noto Sans SC Medium"/>
                <a:cs typeface="Noto Sans SC Medium"/>
              </a:rPr>
              <a:t>研究思路：模型负责理解需求，规则与算法负责核验路线和时间，不直接由模型端到端生成行程。</a:t>
            </a:r>
            <a:endParaRPr sz="1150"/>
          </a:p>
        </p:txBody>
      </p:sp>
      <p:sp>
        <p:nvSpPr>
          <p:cNvPr id="19" name="Shape 17">
            <a:extLst xmlns:a="http://schemas.openxmlformats.org/drawingml/2006/main">
              <a:ext uri="{FF2B5EF4-FFF2-40B4-BE49-F238E27FC236}">
                <a16:creationId xmlns:a16="http://schemas.microsoft.com/office/drawing/2014/main" id="{70ACDEEC-94E7-4AD4-B812-B5A40A4E9718}"/>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20" name="Text 18">
            <a:extLst xmlns:a="http://schemas.openxmlformats.org/drawingml/2006/main">
              <a:ext uri="{FF2B5EF4-FFF2-40B4-BE49-F238E27FC236}">
                <a16:creationId xmlns:a16="http://schemas.microsoft.com/office/drawing/2014/main" id="{E12FE749-05DF-47CC-A4DC-AC020DE89704}"/>
              </a:ext>
            </a:extLst>
          </p:cNvPr>
          <p:cNvSpPr>
            <a:spLocks xmlns:a="http://schemas.openxmlformats.org/drawingml/2006/main" noGrp="1"/>
          </p:cNvSpPr>
          <p:nvPr/>
        </p:nvSpPr>
        <p:spPr>
          <a:xfrm xmlns:a="http://schemas.openxmlformats.org/drawingml/2006/main">
            <a:off x="11565839" y="6351389"/>
            <a:ext cx="625856"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2</a:t>
            </a:r>
            <a:endParaRPr sz="950"/>
          </a:p>
        </p:txBody>
      </p:sp>
    </p:spTree>
    <p:extLst>
      <p:ext uri="{BB962C8B-B14F-4D97-AF65-F5344CB8AC3E}">
        <p14:creationId xmlns:p14="http://schemas.microsoft.com/office/powerpoint/2010/main" val="9195756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CFB88F5-41C2-4278-A590-8BD7EF99F646}"/>
              </a:ext>
            </a:extLst>
          </p:cNvPr>
          <p:cNvSpPr>
            <a:spLocks xmlns:a="http://schemas.openxmlformats.org/drawingml/2006/main" noGrp="1"/>
          </p:cNvSpPr>
          <p:nvPr/>
        </p:nvSpPr>
        <p:spPr>
          <a:xfrm xmlns:a="http://schemas.openxmlformats.org/drawingml/2006/main">
            <a:off x="558786" y="558800"/>
            <a:ext cx="6014589" cy="6826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93000"/>
              </a:lnSpc>
              <a:buNone/>
            </a:pPr>
            <a:r>
              <a:rPr sz="2400" b="1">
                <a:solidFill>
                  <a:srgbClr val="1B4A9B"/>
                </a:solidFill>
                <a:latin typeface="Noto Sans SC Bold"/>
                <a:ea typeface="Noto Sans SC Bold"/>
                <a:cs typeface="Noto Sans SC Bold"/>
              </a:rPr>
              <a:t>研究意义：划清语言模型与确定性算法的边界</a:t>
            </a:r>
            <a:endParaRPr sz="2400"/>
          </a:p>
        </p:txBody>
      </p:sp>
      <p:sp>
        <p:nvSpPr>
          <p:cNvPr id="3" name="Shape 1">
            <a:extLst xmlns:a="http://schemas.openxmlformats.org/drawingml/2006/main">
              <a:ext uri="{FF2B5EF4-FFF2-40B4-BE49-F238E27FC236}">
                <a16:creationId xmlns:a16="http://schemas.microsoft.com/office/drawing/2014/main" id="{AA5EFD1F-2924-4735-9210-4E56EF1C7AD7}"/>
              </a:ext>
            </a:extLst>
          </p:cNvPr>
          <p:cNvSpPr>
            <a:spLocks xmlns:a="http://schemas.openxmlformats.org/drawingml/2006/main" noGrp="1"/>
          </p:cNvSpPr>
          <p:nvPr/>
        </p:nvSpPr>
        <p:spPr>
          <a:xfrm xmlns:a="http://schemas.openxmlformats.org/drawingml/2006/main">
            <a:off x="558786" y="1588294"/>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4" name="Text 2">
            <a:extLst xmlns:a="http://schemas.openxmlformats.org/drawingml/2006/main">
              <a:ext uri="{FF2B5EF4-FFF2-40B4-BE49-F238E27FC236}">
                <a16:creationId xmlns:a16="http://schemas.microsoft.com/office/drawing/2014/main" id="{FD1A1F35-A3EE-426B-B3F7-4D3BF40E0B3E}"/>
              </a:ext>
            </a:extLst>
          </p:cNvPr>
          <p:cNvSpPr>
            <a:spLocks xmlns:a="http://schemas.openxmlformats.org/drawingml/2006/main" noGrp="1"/>
          </p:cNvSpPr>
          <p:nvPr/>
        </p:nvSpPr>
        <p:spPr>
          <a:xfrm xmlns:a="http://schemas.openxmlformats.org/drawingml/2006/main">
            <a:off x="636770" y="1638300"/>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1</a:t>
            </a:r>
            <a:endParaRPr sz="1050"/>
          </a:p>
        </p:txBody>
      </p:sp>
      <p:sp>
        <p:nvSpPr>
          <p:cNvPr id="5" name="Text 3">
            <a:extLst xmlns:a="http://schemas.openxmlformats.org/drawingml/2006/main">
              <a:ext uri="{FF2B5EF4-FFF2-40B4-BE49-F238E27FC236}">
                <a16:creationId xmlns:a16="http://schemas.microsoft.com/office/drawing/2014/main" id="{AB9907F7-5C0A-4DBF-8CDA-CB43B248820E}"/>
              </a:ext>
            </a:extLst>
          </p:cNvPr>
          <p:cNvSpPr>
            <a:spLocks xmlns:a="http://schemas.openxmlformats.org/drawingml/2006/main" noGrp="1"/>
          </p:cNvSpPr>
          <p:nvPr/>
        </p:nvSpPr>
        <p:spPr>
          <a:xfrm xmlns:a="http://schemas.openxmlformats.org/drawingml/2006/main">
            <a:off x="919140" y="1543050"/>
            <a:ext cx="5654236" cy="8286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不把模型输出直接视作最终方案，而是限制在需求抽取、工具决策和文案说明环节，景点、路线与时间窗口仍由可核查数据与规则控制</a:t>
            </a:r>
            <a:endParaRPr sz="1500"/>
          </a:p>
        </p:txBody>
      </p:sp>
      <p:sp>
        <p:nvSpPr>
          <p:cNvPr id="6" name="Shape 4">
            <a:extLst xmlns:a="http://schemas.openxmlformats.org/drawingml/2006/main">
              <a:ext uri="{FF2B5EF4-FFF2-40B4-BE49-F238E27FC236}">
                <a16:creationId xmlns:a16="http://schemas.microsoft.com/office/drawing/2014/main" id="{F6D93B8F-29CF-4898-A857-BF9742CF7D45}"/>
              </a:ext>
            </a:extLst>
          </p:cNvPr>
          <p:cNvSpPr>
            <a:spLocks xmlns:a="http://schemas.openxmlformats.org/drawingml/2006/main" noGrp="1"/>
          </p:cNvSpPr>
          <p:nvPr/>
        </p:nvSpPr>
        <p:spPr>
          <a:xfrm xmlns:a="http://schemas.openxmlformats.org/drawingml/2006/main">
            <a:off x="558786" y="3122811"/>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7" name="Text 5">
            <a:extLst xmlns:a="http://schemas.openxmlformats.org/drawingml/2006/main">
              <a:ext uri="{FF2B5EF4-FFF2-40B4-BE49-F238E27FC236}">
                <a16:creationId xmlns:a16="http://schemas.microsoft.com/office/drawing/2014/main" id="{F27FA6AE-F9BB-4385-9FF2-F869A204B611}"/>
              </a:ext>
            </a:extLst>
          </p:cNvPr>
          <p:cNvSpPr>
            <a:spLocks xmlns:a="http://schemas.openxmlformats.org/drawingml/2006/main" noGrp="1"/>
          </p:cNvSpPr>
          <p:nvPr/>
        </p:nvSpPr>
        <p:spPr>
          <a:xfrm xmlns:a="http://schemas.openxmlformats.org/drawingml/2006/main">
            <a:off x="636770" y="3172817"/>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2</a:t>
            </a:r>
            <a:endParaRPr sz="1050"/>
          </a:p>
        </p:txBody>
      </p:sp>
      <p:sp>
        <p:nvSpPr>
          <p:cNvPr id="8" name="Text 6">
            <a:extLst xmlns:a="http://schemas.openxmlformats.org/drawingml/2006/main">
              <a:ext uri="{FF2B5EF4-FFF2-40B4-BE49-F238E27FC236}">
                <a16:creationId xmlns:a16="http://schemas.microsoft.com/office/drawing/2014/main" id="{4A0B549B-7818-4410-8C09-33B147BDE382}"/>
              </a:ext>
            </a:extLst>
          </p:cNvPr>
          <p:cNvSpPr>
            <a:spLocks xmlns:a="http://schemas.openxmlformats.org/drawingml/2006/main" noGrp="1"/>
          </p:cNvSpPr>
          <p:nvPr/>
        </p:nvSpPr>
        <p:spPr>
          <a:xfrm xmlns:a="http://schemas.openxmlformats.org/drawingml/2006/main">
            <a:off x="919140" y="3077567"/>
            <a:ext cx="5654236" cy="552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形成可追溯数据链：指南回答可溯源至文档，规划景点可溯源至数据库，路线与天气可溯源至工具结果</a:t>
            </a:r>
            <a:endParaRPr sz="1500"/>
          </a:p>
        </p:txBody>
      </p:sp>
      <p:sp>
        <p:nvSpPr>
          <p:cNvPr id="9" name="Shape 7">
            <a:extLst xmlns:a="http://schemas.openxmlformats.org/drawingml/2006/main">
              <a:ext uri="{FF2B5EF4-FFF2-40B4-BE49-F238E27FC236}">
                <a16:creationId xmlns:a16="http://schemas.microsoft.com/office/drawing/2014/main" id="{F6300897-C946-4DD5-8412-117448173104}"/>
              </a:ext>
            </a:extLst>
          </p:cNvPr>
          <p:cNvSpPr>
            <a:spLocks xmlns:a="http://schemas.openxmlformats.org/drawingml/2006/main" noGrp="1"/>
          </p:cNvSpPr>
          <p:nvPr/>
        </p:nvSpPr>
        <p:spPr>
          <a:xfrm xmlns:a="http://schemas.openxmlformats.org/drawingml/2006/main">
            <a:off x="558786" y="4381202"/>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0" name="Text 8">
            <a:extLst xmlns:a="http://schemas.openxmlformats.org/drawingml/2006/main">
              <a:ext uri="{FF2B5EF4-FFF2-40B4-BE49-F238E27FC236}">
                <a16:creationId xmlns:a16="http://schemas.microsoft.com/office/drawing/2014/main" id="{84C265E2-3A00-40AA-9C24-4B19104F8C6E}"/>
              </a:ext>
            </a:extLst>
          </p:cNvPr>
          <p:cNvSpPr>
            <a:spLocks xmlns:a="http://schemas.openxmlformats.org/drawingml/2006/main" noGrp="1"/>
          </p:cNvSpPr>
          <p:nvPr/>
        </p:nvSpPr>
        <p:spPr>
          <a:xfrm xmlns:a="http://schemas.openxmlformats.org/drawingml/2006/main">
            <a:off x="636770" y="4431209"/>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3</a:t>
            </a:r>
            <a:endParaRPr sz="1050"/>
          </a:p>
        </p:txBody>
      </p:sp>
      <p:sp>
        <p:nvSpPr>
          <p:cNvPr id="11" name="Text 9">
            <a:extLst xmlns:a="http://schemas.openxmlformats.org/drawingml/2006/main">
              <a:ext uri="{FF2B5EF4-FFF2-40B4-BE49-F238E27FC236}">
                <a16:creationId xmlns:a16="http://schemas.microsoft.com/office/drawing/2014/main" id="{B9112F6F-0944-4394-B327-749730ECE354}"/>
              </a:ext>
            </a:extLst>
          </p:cNvPr>
          <p:cNvSpPr>
            <a:spLocks xmlns:a="http://schemas.openxmlformats.org/drawingml/2006/main" noGrp="1"/>
          </p:cNvSpPr>
          <p:nvPr/>
        </p:nvSpPr>
        <p:spPr>
          <a:xfrm xmlns:a="http://schemas.openxmlformats.org/drawingml/2006/main">
            <a:off x="919140" y="4335959"/>
            <a:ext cx="5654236" cy="552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以相同输入对比直接生成与受约束工作流，检验景点有效性、兴趣覆盖、时间冲突与交通负担</a:t>
            </a:r>
            <a:endParaRPr sz="1500"/>
          </a:p>
        </p:txBody>
      </p:sp>
      <p:sp>
        <p:nvSpPr>
          <p:cNvPr id="12" name="Shape 10">
            <a:extLst xmlns:a="http://schemas.openxmlformats.org/drawingml/2006/main">
              <a:ext uri="{FF2B5EF4-FFF2-40B4-BE49-F238E27FC236}">
                <a16:creationId xmlns:a16="http://schemas.microsoft.com/office/drawing/2014/main" id="{C087DEA2-C371-46E0-89AA-558EF48FEDD3}"/>
              </a:ext>
            </a:extLst>
          </p:cNvPr>
          <p:cNvSpPr>
            <a:spLocks xmlns:a="http://schemas.openxmlformats.org/drawingml/2006/main" noGrp="1"/>
          </p:cNvSpPr>
          <p:nvPr/>
        </p:nvSpPr>
        <p:spPr>
          <a:xfrm xmlns:a="http://schemas.openxmlformats.org/drawingml/2006/main">
            <a:off x="7995641" y="558800"/>
            <a:ext cx="3637268" cy="2512913"/>
          </a:xfrm>
          <a:prstGeom xmlns:a="http://schemas.openxmlformats.org/drawingml/2006/main" prst="rect">
            <a:avLst/>
          </a:prstGeom>
          <a:noFill xmlns:a="http://schemas.openxmlformats.org/drawingml/2006/main"/>
          <a:ln xmlns:a="http://schemas.openxmlformats.org/drawingml/2006/main" w="6350">
            <a:solidFill>
              <a:srgbClr val="1B4A9B"/>
            </a:solidFill>
            <a:prstDash val="solid"/>
          </a:ln>
        </p:spPr>
      </p:sp>
      <p:sp>
        <p:nvSpPr>
          <p:cNvPr id="13" name="Text 11">
            <a:extLst xmlns:a="http://schemas.openxmlformats.org/drawingml/2006/main">
              <a:ext uri="{FF2B5EF4-FFF2-40B4-BE49-F238E27FC236}">
                <a16:creationId xmlns:a16="http://schemas.microsoft.com/office/drawing/2014/main" id="{6BB7D4CC-B7F1-45A1-9EBD-378194C33C0B}"/>
              </a:ext>
            </a:extLst>
          </p:cNvPr>
          <p:cNvSpPr>
            <a:spLocks xmlns:a="http://schemas.openxmlformats.org/drawingml/2006/main" noGrp="1"/>
          </p:cNvSpPr>
          <p:nvPr/>
        </p:nvSpPr>
        <p:spPr>
          <a:xfrm xmlns:a="http://schemas.openxmlformats.org/drawingml/2006/main">
            <a:off x="8179786" y="742950"/>
            <a:ext cx="3453123" cy="2063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spc="13">
                <a:solidFill>
                  <a:srgbClr val="1B4A9B"/>
                </a:solidFill>
                <a:latin typeface="Noto Sans SC SemiBold"/>
                <a:ea typeface="Noto Sans SC SemiBold"/>
                <a:cs typeface="Noto Sans SC SemiBold"/>
              </a:rPr>
              <a:t>可核查数据与规则控制</a:t>
            </a:r>
            <a:endParaRPr sz="1300"/>
          </a:p>
        </p:txBody>
      </p:sp>
      <p:sp>
        <p:nvSpPr>
          <p:cNvPr id="14" name="Text 12">
            <a:extLst xmlns:a="http://schemas.openxmlformats.org/drawingml/2006/main">
              <a:ext uri="{FF2B5EF4-FFF2-40B4-BE49-F238E27FC236}">
                <a16:creationId xmlns:a16="http://schemas.microsoft.com/office/drawing/2014/main" id="{C07034BB-3304-41F7-AF10-768BA79DA557}"/>
              </a:ext>
            </a:extLst>
          </p:cNvPr>
          <p:cNvSpPr>
            <a:spLocks xmlns:a="http://schemas.openxmlformats.org/drawingml/2006/main" noGrp="1"/>
          </p:cNvSpPr>
          <p:nvPr/>
        </p:nvSpPr>
        <p:spPr>
          <a:xfrm xmlns:a="http://schemas.openxmlformats.org/drawingml/2006/main">
            <a:off x="8179786" y="1019175"/>
            <a:ext cx="3268978"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模型输出不直接视作最终方案</a:t>
            </a:r>
            <a:endParaRPr sz="1650"/>
          </a:p>
        </p:txBody>
      </p:sp>
      <p:sp>
        <p:nvSpPr>
          <p:cNvPr id="15" name="Text 13">
            <a:extLst xmlns:a="http://schemas.openxmlformats.org/drawingml/2006/main">
              <a:ext uri="{FF2B5EF4-FFF2-40B4-BE49-F238E27FC236}">
                <a16:creationId xmlns:a16="http://schemas.microsoft.com/office/drawing/2014/main" id="{A2C0DBCD-7820-4C73-BED1-118A3F51E51C}"/>
              </a:ext>
            </a:extLst>
          </p:cNvPr>
          <p:cNvSpPr>
            <a:spLocks xmlns:a="http://schemas.openxmlformats.org/drawingml/2006/main" noGrp="1"/>
          </p:cNvSpPr>
          <p:nvPr/>
        </p:nvSpPr>
        <p:spPr>
          <a:xfrm xmlns:a="http://schemas.openxmlformats.org/drawingml/2006/main">
            <a:off x="8179786" y="1412180"/>
            <a:ext cx="3268978"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需求抽取、工具决策和文案说明环节受限；景点、路线与时间窗口仍由可核查数据与规则控制。</a:t>
            </a:r>
            <a:endParaRPr sz="1350"/>
          </a:p>
        </p:txBody>
      </p:sp>
      <p:sp>
        <p:nvSpPr>
          <p:cNvPr id="16" name="Shape 14">
            <a:extLst xmlns:a="http://schemas.openxmlformats.org/drawingml/2006/main">
              <a:ext uri="{FF2B5EF4-FFF2-40B4-BE49-F238E27FC236}">
                <a16:creationId xmlns:a16="http://schemas.microsoft.com/office/drawing/2014/main" id="{811FEB05-E6DC-4E0E-809A-F1BB11BA5B98}"/>
              </a:ext>
            </a:extLst>
          </p:cNvPr>
          <p:cNvSpPr>
            <a:spLocks xmlns:a="http://schemas.openxmlformats.org/drawingml/2006/main" noGrp="1"/>
          </p:cNvSpPr>
          <p:nvPr/>
        </p:nvSpPr>
        <p:spPr>
          <a:xfrm xmlns:a="http://schemas.openxmlformats.org/drawingml/2006/main">
            <a:off x="7995641" y="3224113"/>
            <a:ext cx="3637268" cy="1887339"/>
          </a:xfrm>
          <a:prstGeom xmlns:a="http://schemas.openxmlformats.org/drawingml/2006/main" prst="rect">
            <a:avLst/>
          </a:prstGeom>
          <a:solidFill xmlns:a="http://schemas.openxmlformats.org/drawingml/2006/main">
            <a:srgbClr val="EAF1FB"/>
          </a:solidFill>
        </p:spPr>
      </p:sp>
      <p:sp>
        <p:nvSpPr>
          <p:cNvPr id="17" name="Text 15">
            <a:extLst xmlns:a="http://schemas.openxmlformats.org/drawingml/2006/main">
              <a:ext uri="{FF2B5EF4-FFF2-40B4-BE49-F238E27FC236}">
                <a16:creationId xmlns:a16="http://schemas.microsoft.com/office/drawing/2014/main" id="{AF16C4A6-02D4-4902-A94D-55E6B530F11C}"/>
              </a:ext>
            </a:extLst>
          </p:cNvPr>
          <p:cNvSpPr>
            <a:spLocks xmlns:a="http://schemas.openxmlformats.org/drawingml/2006/main" noGrp="1"/>
          </p:cNvSpPr>
          <p:nvPr/>
        </p:nvSpPr>
        <p:spPr>
          <a:xfrm xmlns:a="http://schemas.openxmlformats.org/drawingml/2006/main">
            <a:off x="8173436" y="3401913"/>
            <a:ext cx="3459473" cy="2063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spc="13">
                <a:solidFill>
                  <a:srgbClr val="1B4A9B"/>
                </a:solidFill>
                <a:latin typeface="Noto Sans SC SemiBold"/>
                <a:ea typeface="Noto Sans SC SemiBold"/>
                <a:cs typeface="Noto Sans SC SemiBold"/>
              </a:rPr>
              <a:t>可追溯数据链</a:t>
            </a:r>
            <a:endParaRPr sz="1300"/>
          </a:p>
        </p:txBody>
      </p:sp>
      <p:sp>
        <p:nvSpPr>
          <p:cNvPr id="18" name="Text 16">
            <a:extLst xmlns:a="http://schemas.openxmlformats.org/drawingml/2006/main">
              <a:ext uri="{FF2B5EF4-FFF2-40B4-BE49-F238E27FC236}">
                <a16:creationId xmlns:a16="http://schemas.microsoft.com/office/drawing/2014/main" id="{1A2EA4D0-59A9-45C1-97FE-A41660440CA2}"/>
              </a:ext>
            </a:extLst>
          </p:cNvPr>
          <p:cNvSpPr>
            <a:spLocks xmlns:a="http://schemas.openxmlformats.org/drawingml/2006/main" noGrp="1"/>
          </p:cNvSpPr>
          <p:nvPr/>
        </p:nvSpPr>
        <p:spPr>
          <a:xfrm xmlns:a="http://schemas.openxmlformats.org/drawingml/2006/main">
            <a:off x="8173436" y="3706713"/>
            <a:ext cx="3281677" cy="4970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指南回答可溯源至文档；规划景点可溯源至数据库；路线与天气可溯源至工具结果。</a:t>
            </a:r>
            <a:endParaRPr sz="1350"/>
          </a:p>
        </p:txBody>
      </p:sp>
      <p:sp>
        <p:nvSpPr>
          <p:cNvPr id="19" name="Text 17">
            <a:extLst xmlns:a="http://schemas.openxmlformats.org/drawingml/2006/main">
              <a:ext uri="{FF2B5EF4-FFF2-40B4-BE49-F238E27FC236}">
                <a16:creationId xmlns:a16="http://schemas.microsoft.com/office/drawing/2014/main" id="{78F8D20E-707A-4E10-A472-6175B87A8348}"/>
              </a:ext>
            </a:extLst>
          </p:cNvPr>
          <p:cNvSpPr>
            <a:spLocks xmlns:a="http://schemas.openxmlformats.org/drawingml/2006/main" noGrp="1"/>
          </p:cNvSpPr>
          <p:nvPr/>
        </p:nvSpPr>
        <p:spPr>
          <a:xfrm xmlns:a="http://schemas.openxmlformats.org/drawingml/2006/main">
            <a:off x="7995641" y="5263852"/>
            <a:ext cx="4196054" cy="19714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1150" spc="6">
                <a:solidFill>
                  <a:srgbClr val="1B4A9B"/>
                </a:solidFill>
                <a:latin typeface="Noto Sans SC Medium"/>
                <a:ea typeface="Noto Sans SC Medium"/>
                <a:cs typeface="Noto Sans SC Medium"/>
              </a:rPr>
              <a:t>图 3.1 语言模型概率生成与运筹学精确约束协同关系</a:t>
            </a:r>
            <a:endParaRPr sz="1150"/>
          </a:p>
        </p:txBody>
      </p:sp>
      <p:sp>
        <p:nvSpPr>
          <p:cNvPr id="20" name="Shape 18">
            <a:extLst xmlns:a="http://schemas.openxmlformats.org/drawingml/2006/main">
              <a:ext uri="{FF2B5EF4-FFF2-40B4-BE49-F238E27FC236}">
                <a16:creationId xmlns:a16="http://schemas.microsoft.com/office/drawing/2014/main" id="{F5FCB4C9-2A92-4BDD-BF3C-418A90FE2DDF}"/>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21" name="Text 19">
            <a:extLst xmlns:a="http://schemas.openxmlformats.org/drawingml/2006/main">
              <a:ext uri="{FF2B5EF4-FFF2-40B4-BE49-F238E27FC236}">
                <a16:creationId xmlns:a16="http://schemas.microsoft.com/office/drawing/2014/main" id="{8B337CBC-15E7-4A99-A1B5-183F8A886DDA}"/>
              </a:ext>
            </a:extLst>
          </p:cNvPr>
          <p:cNvSpPr>
            <a:spLocks xmlns:a="http://schemas.openxmlformats.org/drawingml/2006/main" noGrp="1"/>
          </p:cNvSpPr>
          <p:nvPr/>
        </p:nvSpPr>
        <p:spPr>
          <a:xfrm xmlns:a="http://schemas.openxmlformats.org/drawingml/2006/main">
            <a:off x="11565839" y="6351389"/>
            <a:ext cx="625856"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3</a:t>
            </a:r>
            <a:endParaRPr sz="950"/>
          </a:p>
        </p:txBody>
      </p:sp>
      <p:sp>
        <p:nvSpPr>
          <p:cNvPr id="22" name="Shape 20">
            <a:extLst xmlns:a="http://schemas.openxmlformats.org/drawingml/2006/main">
              <a:ext uri="{FF2B5EF4-FFF2-40B4-BE49-F238E27FC236}">
                <a16:creationId xmlns:a16="http://schemas.microsoft.com/office/drawing/2014/main" id="{4182CF6C-F4F5-41DC-88CA-48759132793A}"/>
              </a:ext>
            </a:extLst>
          </p:cNvPr>
          <p:cNvSpPr>
            <a:spLocks xmlns:a="http://schemas.openxmlformats.org/drawingml/2006/main" noGrp="1"/>
          </p:cNvSpPr>
          <p:nvPr/>
        </p:nvSpPr>
        <p:spPr>
          <a:xfrm xmlns:a="http://schemas.openxmlformats.org/drawingml/2006/main">
            <a:off x="558786" y="2937867"/>
            <a:ext cx="6014589" cy="12700"/>
          </a:xfrm>
          <a:prstGeom xmlns:a="http://schemas.openxmlformats.org/drawingml/2006/main" prst="rect">
            <a:avLst/>
          </a:prstGeom>
          <a:solidFill xmlns:a="http://schemas.openxmlformats.org/drawingml/2006/main">
            <a:srgbClr val="1B4A9B"/>
          </a:solidFill>
        </p:spPr>
      </p:sp>
      <p:sp>
        <p:nvSpPr>
          <p:cNvPr id="23" name="Shape 21">
            <a:extLst xmlns:a="http://schemas.openxmlformats.org/drawingml/2006/main">
              <a:ext uri="{FF2B5EF4-FFF2-40B4-BE49-F238E27FC236}">
                <a16:creationId xmlns:a16="http://schemas.microsoft.com/office/drawing/2014/main" id="{716C240E-7147-4EC7-BEDE-9625A6EF024F}"/>
              </a:ext>
            </a:extLst>
          </p:cNvPr>
          <p:cNvSpPr>
            <a:spLocks xmlns:a="http://schemas.openxmlformats.org/drawingml/2006/main" noGrp="1"/>
          </p:cNvSpPr>
          <p:nvPr/>
        </p:nvSpPr>
        <p:spPr>
          <a:xfrm xmlns:a="http://schemas.openxmlformats.org/drawingml/2006/main">
            <a:off x="558786" y="4196259"/>
            <a:ext cx="6014589" cy="12700"/>
          </a:xfrm>
          <a:prstGeom xmlns:a="http://schemas.openxmlformats.org/drawingml/2006/main" prst="rect">
            <a:avLst/>
          </a:prstGeom>
          <a:solidFill xmlns:a="http://schemas.openxmlformats.org/drawingml/2006/main">
            <a:srgbClr val="1B4A9B"/>
          </a:solidFill>
        </p:spPr>
      </p:sp>
    </p:spTree>
    <p:extLst>
      <p:ext uri="{BB962C8B-B14F-4D97-AF65-F5344CB8AC3E}">
        <p14:creationId xmlns:p14="http://schemas.microsoft.com/office/powerpoint/2010/main" val="2257030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1823E7-CEC3-4F81-8EAA-9DD09D976868}"/>
              </a:ext>
            </a:extLst>
          </p:cNvPr>
          <p:cNvSpPr>
            <a:spLocks xmlns:a="http://schemas.openxmlformats.org/drawingml/2006/main" noGrp="1"/>
          </p:cNvSpPr>
          <p:nvPr/>
        </p:nvSpPr>
        <p:spPr>
          <a:xfrm xmlns:a="http://schemas.openxmlformats.org/drawingml/2006/main">
            <a:off x="558786" y="558800"/>
            <a:ext cx="11074123" cy="34131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3000"/>
              </a:lnSpc>
              <a:buNone/>
            </a:pPr>
            <a:r>
              <a:rPr sz="2400" b="1">
                <a:solidFill>
                  <a:srgbClr val="1B4A9B"/>
                </a:solidFill>
                <a:latin typeface="Noto Sans SC Bold"/>
                <a:ea typeface="Noto Sans SC Bold"/>
                <a:cs typeface="Noto Sans SC Bold"/>
              </a:rPr>
              <a:t>研究内容：六大核心模块协同设计</a:t>
            </a:r>
            <a:endParaRPr sz="2400"/>
          </a:p>
        </p:txBody>
      </p:sp>
      <p:sp>
        <p:nvSpPr>
          <p:cNvPr id="3" name="Text 1">
            <a:extLst xmlns:a="http://schemas.openxmlformats.org/drawingml/2006/main">
              <a:ext uri="{FF2B5EF4-FFF2-40B4-BE49-F238E27FC236}">
                <a16:creationId xmlns:a16="http://schemas.microsoft.com/office/drawing/2014/main" id="{CC77C8F7-576C-451D-B980-CB985157B59A}"/>
              </a:ext>
            </a:extLst>
          </p:cNvPr>
          <p:cNvSpPr>
            <a:spLocks xmlns:a="http://schemas.openxmlformats.org/drawingml/2006/main" noGrp="1"/>
          </p:cNvSpPr>
          <p:nvPr/>
        </p:nvSpPr>
        <p:spPr>
          <a:xfrm xmlns:a="http://schemas.openxmlformats.org/drawingml/2006/main">
            <a:off x="558786" y="1068388"/>
            <a:ext cx="11632909"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系统围绕“意图抽取—候选确定—路径排程—质量复核”完整闭环展开研发：</a:t>
            </a:r>
            <a:endParaRPr sz="1500"/>
          </a:p>
        </p:txBody>
      </p:sp>
      <p:sp>
        <p:nvSpPr>
          <p:cNvPr id="4" name="Shape 2">
            <a:extLst xmlns:a="http://schemas.openxmlformats.org/drawingml/2006/main">
              <a:ext uri="{FF2B5EF4-FFF2-40B4-BE49-F238E27FC236}">
                <a16:creationId xmlns:a16="http://schemas.microsoft.com/office/drawing/2014/main" id="{1C7031F6-F123-4724-9042-56A4788D6277}"/>
              </a:ext>
            </a:extLst>
          </p:cNvPr>
          <p:cNvSpPr>
            <a:spLocks xmlns:a="http://schemas.openxmlformats.org/drawingml/2006/main" noGrp="1"/>
          </p:cNvSpPr>
          <p:nvPr/>
        </p:nvSpPr>
        <p:spPr>
          <a:xfrm xmlns:a="http://schemas.openxmlformats.org/drawingml/2006/main">
            <a:off x="558786" y="2039144"/>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5" name="Text 3">
            <a:extLst xmlns:a="http://schemas.openxmlformats.org/drawingml/2006/main">
              <a:ext uri="{FF2B5EF4-FFF2-40B4-BE49-F238E27FC236}">
                <a16:creationId xmlns:a16="http://schemas.microsoft.com/office/drawing/2014/main" id="{A309714A-C3C2-47D1-AE41-945B02B08665}"/>
              </a:ext>
            </a:extLst>
          </p:cNvPr>
          <p:cNvSpPr>
            <a:spLocks xmlns:a="http://schemas.openxmlformats.org/drawingml/2006/main" noGrp="1"/>
          </p:cNvSpPr>
          <p:nvPr/>
        </p:nvSpPr>
        <p:spPr>
          <a:xfrm xmlns:a="http://schemas.openxmlformats.org/drawingml/2006/main">
            <a:off x="636770" y="2089150"/>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1</a:t>
            </a:r>
            <a:endParaRPr sz="1050"/>
          </a:p>
        </p:txBody>
      </p:sp>
      <p:sp>
        <p:nvSpPr>
          <p:cNvPr id="6" name="Text 4">
            <a:extLst xmlns:a="http://schemas.openxmlformats.org/drawingml/2006/main">
              <a:ext uri="{FF2B5EF4-FFF2-40B4-BE49-F238E27FC236}">
                <a16:creationId xmlns:a16="http://schemas.microsoft.com/office/drawing/2014/main" id="{229483C9-CFF9-4E35-8838-CE05835DF17A}"/>
              </a:ext>
            </a:extLst>
          </p:cNvPr>
          <p:cNvSpPr>
            <a:spLocks xmlns:a="http://schemas.openxmlformats.org/drawingml/2006/main" noGrp="1"/>
          </p:cNvSpPr>
          <p:nvPr/>
        </p:nvSpPr>
        <p:spPr>
          <a:xfrm xmlns:a="http://schemas.openxmlformats.org/drawingml/2006/main">
            <a:off x="982638" y="1987550"/>
            <a:ext cx="3115093"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双模式会话与权限体系</a:t>
            </a:r>
            <a:endParaRPr sz="1650"/>
          </a:p>
        </p:txBody>
      </p:sp>
      <p:sp>
        <p:nvSpPr>
          <p:cNvPr id="7" name="Text 5">
            <a:extLst xmlns:a="http://schemas.openxmlformats.org/drawingml/2006/main">
              <a:ext uri="{FF2B5EF4-FFF2-40B4-BE49-F238E27FC236}">
                <a16:creationId xmlns:a16="http://schemas.microsoft.com/office/drawing/2014/main" id="{AB0E5295-9951-4242-8174-F5BB14A1BEE1}"/>
              </a:ext>
            </a:extLst>
          </p:cNvPr>
          <p:cNvSpPr>
            <a:spLocks xmlns:a="http://schemas.openxmlformats.org/drawingml/2006/main" noGrp="1"/>
          </p:cNvSpPr>
          <p:nvPr/>
        </p:nvSpPr>
        <p:spPr>
          <a:xfrm xmlns:a="http://schemas.openxmlformats.org/drawingml/2006/main">
            <a:off x="982638" y="2380555"/>
            <a:ext cx="3115093"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基于 LangChain ReAct 构建普通轻量交互，基于 LangGraph 实现规划编排；严格隔离普通用户与管理员管理后台。</a:t>
            </a:r>
            <a:endParaRPr sz="1350"/>
          </a:p>
        </p:txBody>
      </p:sp>
      <p:sp>
        <p:nvSpPr>
          <p:cNvPr id="8" name="Shape 6">
            <a:extLst xmlns:a="http://schemas.openxmlformats.org/drawingml/2006/main">
              <a:ext uri="{FF2B5EF4-FFF2-40B4-BE49-F238E27FC236}">
                <a16:creationId xmlns:a16="http://schemas.microsoft.com/office/drawing/2014/main" id="{F16AE664-46EB-4ED7-949D-3F7928414E9C}"/>
              </a:ext>
            </a:extLst>
          </p:cNvPr>
          <p:cNvSpPr>
            <a:spLocks xmlns:a="http://schemas.openxmlformats.org/drawingml/2006/main" noGrp="1"/>
          </p:cNvSpPr>
          <p:nvPr/>
        </p:nvSpPr>
        <p:spPr>
          <a:xfrm xmlns:a="http://schemas.openxmlformats.org/drawingml/2006/main">
            <a:off x="4402523" y="2039144"/>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9" name="Text 7">
            <a:extLst xmlns:a="http://schemas.openxmlformats.org/drawingml/2006/main">
              <a:ext uri="{FF2B5EF4-FFF2-40B4-BE49-F238E27FC236}">
                <a16:creationId xmlns:a16="http://schemas.microsoft.com/office/drawing/2014/main" id="{BA6FFB8C-9928-49DA-9041-5C62E94E8623}"/>
              </a:ext>
            </a:extLst>
          </p:cNvPr>
          <p:cNvSpPr>
            <a:spLocks xmlns:a="http://schemas.openxmlformats.org/drawingml/2006/main" noGrp="1"/>
          </p:cNvSpPr>
          <p:nvPr/>
        </p:nvSpPr>
        <p:spPr>
          <a:xfrm xmlns:a="http://schemas.openxmlformats.org/drawingml/2006/main">
            <a:off x="4480507" y="2089150"/>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2</a:t>
            </a:r>
            <a:endParaRPr sz="1050"/>
          </a:p>
        </p:txBody>
      </p:sp>
      <p:sp>
        <p:nvSpPr>
          <p:cNvPr id="10" name="Text 8">
            <a:extLst xmlns:a="http://schemas.openxmlformats.org/drawingml/2006/main">
              <a:ext uri="{FF2B5EF4-FFF2-40B4-BE49-F238E27FC236}">
                <a16:creationId xmlns:a16="http://schemas.microsoft.com/office/drawing/2014/main" id="{B8CE11F1-0A0F-4DB8-A8B5-17D8A378772F}"/>
              </a:ext>
            </a:extLst>
          </p:cNvPr>
          <p:cNvSpPr>
            <a:spLocks xmlns:a="http://schemas.openxmlformats.org/drawingml/2006/main" noGrp="1"/>
          </p:cNvSpPr>
          <p:nvPr/>
        </p:nvSpPr>
        <p:spPr>
          <a:xfrm xmlns:a="http://schemas.openxmlformats.org/drawingml/2006/main">
            <a:off x="4826375" y="1987550"/>
            <a:ext cx="2962697"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多轮交互式需求明确</a:t>
            </a:r>
            <a:endParaRPr sz="1650"/>
          </a:p>
        </p:txBody>
      </p:sp>
      <p:sp>
        <p:nvSpPr>
          <p:cNvPr id="11" name="Text 9">
            <a:extLst xmlns:a="http://schemas.openxmlformats.org/drawingml/2006/main">
              <a:ext uri="{FF2B5EF4-FFF2-40B4-BE49-F238E27FC236}">
                <a16:creationId xmlns:a16="http://schemas.microsoft.com/office/drawing/2014/main" id="{A5620B0C-0DF0-449E-BFC4-29D440341C00}"/>
              </a:ext>
            </a:extLst>
          </p:cNvPr>
          <p:cNvSpPr>
            <a:spLocks xmlns:a="http://schemas.openxmlformats.org/drawingml/2006/main" noGrp="1"/>
          </p:cNvSpPr>
          <p:nvPr/>
        </p:nvSpPr>
        <p:spPr>
          <a:xfrm xmlns:a="http://schemas.openxmlformats.org/drawingml/2006/main">
            <a:off x="4826375" y="2380555"/>
            <a:ext cx="2962697" cy="9941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解析省市、天数、同行类型及偏好标签，对缺失及冲突参数主动反问，经用户确认表单锁定后方可触发排程流水线。</a:t>
            </a:r>
            <a:endParaRPr sz="1350"/>
          </a:p>
        </p:txBody>
      </p:sp>
      <p:sp>
        <p:nvSpPr>
          <p:cNvPr id="12" name="Shape 10">
            <a:extLst xmlns:a="http://schemas.openxmlformats.org/drawingml/2006/main">
              <a:ext uri="{FF2B5EF4-FFF2-40B4-BE49-F238E27FC236}">
                <a16:creationId xmlns:a16="http://schemas.microsoft.com/office/drawing/2014/main" id="{FC09D517-AF8E-4203-BCDC-0C5AC275A22C}"/>
              </a:ext>
            </a:extLst>
          </p:cNvPr>
          <p:cNvSpPr>
            <a:spLocks xmlns:a="http://schemas.openxmlformats.org/drawingml/2006/main" noGrp="1"/>
          </p:cNvSpPr>
          <p:nvPr/>
        </p:nvSpPr>
        <p:spPr>
          <a:xfrm xmlns:a="http://schemas.openxmlformats.org/drawingml/2006/main">
            <a:off x="8093865" y="2039144"/>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3" name="Text 11">
            <a:extLst xmlns:a="http://schemas.openxmlformats.org/drawingml/2006/main">
              <a:ext uri="{FF2B5EF4-FFF2-40B4-BE49-F238E27FC236}">
                <a16:creationId xmlns:a16="http://schemas.microsoft.com/office/drawing/2014/main" id="{F10635BA-DFD7-40B4-9065-E967EB049BBB}"/>
              </a:ext>
            </a:extLst>
          </p:cNvPr>
          <p:cNvSpPr>
            <a:spLocks xmlns:a="http://schemas.openxmlformats.org/drawingml/2006/main" noGrp="1"/>
          </p:cNvSpPr>
          <p:nvPr/>
        </p:nvSpPr>
        <p:spPr>
          <a:xfrm xmlns:a="http://schemas.openxmlformats.org/drawingml/2006/main">
            <a:off x="8171849" y="2089150"/>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3</a:t>
            </a:r>
            <a:endParaRPr sz="1050"/>
          </a:p>
        </p:txBody>
      </p:sp>
      <p:sp>
        <p:nvSpPr>
          <p:cNvPr id="14" name="Text 12">
            <a:extLst xmlns:a="http://schemas.openxmlformats.org/drawingml/2006/main">
              <a:ext uri="{FF2B5EF4-FFF2-40B4-BE49-F238E27FC236}">
                <a16:creationId xmlns:a16="http://schemas.microsoft.com/office/drawing/2014/main" id="{0A348BCF-CCE9-4012-B974-53612526E6B9}"/>
              </a:ext>
            </a:extLst>
          </p:cNvPr>
          <p:cNvSpPr>
            <a:spLocks xmlns:a="http://schemas.openxmlformats.org/drawingml/2006/main" noGrp="1"/>
          </p:cNvSpPr>
          <p:nvPr/>
        </p:nvSpPr>
        <p:spPr>
          <a:xfrm xmlns:a="http://schemas.openxmlformats.org/drawingml/2006/main">
            <a:off x="8517717" y="1987550"/>
            <a:ext cx="311519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可信候选与偏好计算</a:t>
            </a:r>
            <a:endParaRPr sz="1650"/>
          </a:p>
        </p:txBody>
      </p:sp>
      <p:sp>
        <p:nvSpPr>
          <p:cNvPr id="15" name="Text 13">
            <a:extLst xmlns:a="http://schemas.openxmlformats.org/drawingml/2006/main">
              <a:ext uri="{FF2B5EF4-FFF2-40B4-BE49-F238E27FC236}">
                <a16:creationId xmlns:a16="http://schemas.microsoft.com/office/drawing/2014/main" id="{169F003E-949D-4C79-B971-EBC8BD0F729A}"/>
              </a:ext>
            </a:extLst>
          </p:cNvPr>
          <p:cNvSpPr>
            <a:spLocks xmlns:a="http://schemas.openxmlformats.org/drawingml/2006/main" noGrp="1"/>
          </p:cNvSpPr>
          <p:nvPr/>
        </p:nvSpPr>
        <p:spPr>
          <a:xfrm xmlns:a="http://schemas.openxmlformats.org/drawingml/2006/main">
            <a:off x="8517717" y="2380555"/>
            <a:ext cx="3115192"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MySQL 景点库充当合法实体候选池；先经地理与类别硬过滤，再结合语义向量与 BM25 进行加权排序打分。</a:t>
            </a:r>
            <a:endParaRPr sz="1350"/>
          </a:p>
        </p:txBody>
      </p:sp>
      <p:sp>
        <p:nvSpPr>
          <p:cNvPr id="16" name="Shape 14">
            <a:extLst xmlns:a="http://schemas.openxmlformats.org/drawingml/2006/main">
              <a:ext uri="{FF2B5EF4-FFF2-40B4-BE49-F238E27FC236}">
                <a16:creationId xmlns:a16="http://schemas.microsoft.com/office/drawing/2014/main" id="{7E860C3A-960E-404B-BB08-AF723B4BDC13}"/>
              </a:ext>
            </a:extLst>
          </p:cNvPr>
          <p:cNvSpPr>
            <a:spLocks xmlns:a="http://schemas.openxmlformats.org/drawingml/2006/main" noGrp="1"/>
          </p:cNvSpPr>
          <p:nvPr/>
        </p:nvSpPr>
        <p:spPr>
          <a:xfrm xmlns:a="http://schemas.openxmlformats.org/drawingml/2006/main">
            <a:off x="558786" y="3731121"/>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7" name="Text 15">
            <a:extLst xmlns:a="http://schemas.openxmlformats.org/drawingml/2006/main">
              <a:ext uri="{FF2B5EF4-FFF2-40B4-BE49-F238E27FC236}">
                <a16:creationId xmlns:a16="http://schemas.microsoft.com/office/drawing/2014/main" id="{AA98937A-A35E-428C-8A50-B9605FEB1D0F}"/>
              </a:ext>
            </a:extLst>
          </p:cNvPr>
          <p:cNvSpPr>
            <a:spLocks xmlns:a="http://schemas.openxmlformats.org/drawingml/2006/main" noGrp="1"/>
          </p:cNvSpPr>
          <p:nvPr/>
        </p:nvSpPr>
        <p:spPr>
          <a:xfrm xmlns:a="http://schemas.openxmlformats.org/drawingml/2006/main">
            <a:off x="636770" y="3781127"/>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4</a:t>
            </a:r>
            <a:endParaRPr sz="1050"/>
          </a:p>
        </p:txBody>
      </p:sp>
      <p:sp>
        <p:nvSpPr>
          <p:cNvPr id="18" name="Text 16">
            <a:extLst xmlns:a="http://schemas.openxmlformats.org/drawingml/2006/main">
              <a:ext uri="{FF2B5EF4-FFF2-40B4-BE49-F238E27FC236}">
                <a16:creationId xmlns:a16="http://schemas.microsoft.com/office/drawing/2014/main" id="{692BE577-B3F5-453D-AEED-6155F16F47EA}"/>
              </a:ext>
            </a:extLst>
          </p:cNvPr>
          <p:cNvSpPr>
            <a:spLocks xmlns:a="http://schemas.openxmlformats.org/drawingml/2006/main" noGrp="1"/>
          </p:cNvSpPr>
          <p:nvPr/>
        </p:nvSpPr>
        <p:spPr>
          <a:xfrm xmlns:a="http://schemas.openxmlformats.org/drawingml/2006/main">
            <a:off x="982638" y="3679527"/>
            <a:ext cx="3115093"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动态排程与路线核验</a:t>
            </a:r>
            <a:endParaRPr sz="1650"/>
          </a:p>
        </p:txBody>
      </p:sp>
      <p:sp>
        <p:nvSpPr>
          <p:cNvPr id="19" name="Text 17">
            <a:extLst xmlns:a="http://schemas.openxmlformats.org/drawingml/2006/main">
              <a:ext uri="{FF2B5EF4-FFF2-40B4-BE49-F238E27FC236}">
                <a16:creationId xmlns:a16="http://schemas.microsoft.com/office/drawing/2014/main" id="{65360226-885D-4294-977B-3F188A8C4CB6}"/>
              </a:ext>
            </a:extLst>
          </p:cNvPr>
          <p:cNvSpPr>
            <a:spLocks xmlns:a="http://schemas.openxmlformats.org/drawingml/2006/main" noGrp="1"/>
          </p:cNvSpPr>
          <p:nvPr/>
        </p:nvSpPr>
        <p:spPr>
          <a:xfrm xmlns:a="http://schemas.openxmlformats.org/drawingml/2006/main">
            <a:off x="982638" y="4072533"/>
            <a:ext cx="3115093"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综合考虑景点偏好分、当前位置路网耗时及每日开放时间窗；逐点动态插入更新，实时剔除时空不可行节点。</a:t>
            </a:r>
            <a:endParaRPr sz="1350"/>
          </a:p>
        </p:txBody>
      </p:sp>
      <p:sp>
        <p:nvSpPr>
          <p:cNvPr id="20" name="Shape 18">
            <a:extLst xmlns:a="http://schemas.openxmlformats.org/drawingml/2006/main">
              <a:ext uri="{FF2B5EF4-FFF2-40B4-BE49-F238E27FC236}">
                <a16:creationId xmlns:a16="http://schemas.microsoft.com/office/drawing/2014/main" id="{94DC57E3-1E8A-4D65-B961-8263BA43AF35}"/>
              </a:ext>
            </a:extLst>
          </p:cNvPr>
          <p:cNvSpPr>
            <a:spLocks xmlns:a="http://schemas.openxmlformats.org/drawingml/2006/main" noGrp="1"/>
          </p:cNvSpPr>
          <p:nvPr/>
        </p:nvSpPr>
        <p:spPr>
          <a:xfrm xmlns:a="http://schemas.openxmlformats.org/drawingml/2006/main">
            <a:off x="4402523" y="3731121"/>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21" name="Text 19">
            <a:extLst xmlns:a="http://schemas.openxmlformats.org/drawingml/2006/main">
              <a:ext uri="{FF2B5EF4-FFF2-40B4-BE49-F238E27FC236}">
                <a16:creationId xmlns:a16="http://schemas.microsoft.com/office/drawing/2014/main" id="{D424F04E-C292-42B2-87CF-1602DFBFADAF}"/>
              </a:ext>
            </a:extLst>
          </p:cNvPr>
          <p:cNvSpPr>
            <a:spLocks xmlns:a="http://schemas.openxmlformats.org/drawingml/2006/main" noGrp="1"/>
          </p:cNvSpPr>
          <p:nvPr/>
        </p:nvSpPr>
        <p:spPr>
          <a:xfrm xmlns:a="http://schemas.openxmlformats.org/drawingml/2006/main">
            <a:off x="4480507" y="3781127"/>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5</a:t>
            </a:r>
            <a:endParaRPr sz="1050"/>
          </a:p>
        </p:txBody>
      </p:sp>
      <p:sp>
        <p:nvSpPr>
          <p:cNvPr id="22" name="Text 20">
            <a:extLst xmlns:a="http://schemas.openxmlformats.org/drawingml/2006/main">
              <a:ext uri="{FF2B5EF4-FFF2-40B4-BE49-F238E27FC236}">
                <a16:creationId xmlns:a16="http://schemas.microsoft.com/office/drawing/2014/main" id="{42D59E52-DEC1-42B2-AFC6-C5979BB9F2F3}"/>
              </a:ext>
            </a:extLst>
          </p:cNvPr>
          <p:cNvSpPr>
            <a:spLocks xmlns:a="http://schemas.openxmlformats.org/drawingml/2006/main" noGrp="1"/>
          </p:cNvSpPr>
          <p:nvPr/>
        </p:nvSpPr>
        <p:spPr>
          <a:xfrm xmlns:a="http://schemas.openxmlformats.org/drawingml/2006/main">
            <a:off x="4826375" y="3679527"/>
            <a:ext cx="2962697"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多源数据增强与复核</a:t>
            </a:r>
            <a:endParaRPr sz="1650"/>
          </a:p>
        </p:txBody>
      </p:sp>
      <p:sp>
        <p:nvSpPr>
          <p:cNvPr id="23" name="Text 21">
            <a:extLst xmlns:a="http://schemas.openxmlformats.org/drawingml/2006/main">
              <a:ext uri="{FF2B5EF4-FFF2-40B4-BE49-F238E27FC236}">
                <a16:creationId xmlns:a16="http://schemas.microsoft.com/office/drawing/2014/main" id="{F97E5498-81BA-4792-B727-972CF17E4406}"/>
              </a:ext>
            </a:extLst>
          </p:cNvPr>
          <p:cNvSpPr>
            <a:spLocks xmlns:a="http://schemas.openxmlformats.org/drawingml/2006/main" noGrp="1"/>
          </p:cNvSpPr>
          <p:nvPr/>
        </p:nvSpPr>
        <p:spPr>
          <a:xfrm xmlns:a="http://schemas.openxmlformats.org/drawingml/2006/main">
            <a:off x="4826375" y="4072533"/>
            <a:ext cx="2962697"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关联推荐周边酒店、真实天气预报及高德路线图；先由确定性评估器核验可行性，模型仅承担文案描述性复核。</a:t>
            </a:r>
            <a:endParaRPr sz="1350"/>
          </a:p>
        </p:txBody>
      </p:sp>
      <p:sp>
        <p:nvSpPr>
          <p:cNvPr id="24" name="Shape 22">
            <a:extLst xmlns:a="http://schemas.openxmlformats.org/drawingml/2006/main">
              <a:ext uri="{FF2B5EF4-FFF2-40B4-BE49-F238E27FC236}">
                <a16:creationId xmlns:a16="http://schemas.microsoft.com/office/drawing/2014/main" id="{3FDFB5DD-8600-438F-A01B-2C2BAFEF2FE6}"/>
              </a:ext>
            </a:extLst>
          </p:cNvPr>
          <p:cNvSpPr>
            <a:spLocks xmlns:a="http://schemas.openxmlformats.org/drawingml/2006/main" noGrp="1"/>
          </p:cNvSpPr>
          <p:nvPr/>
        </p:nvSpPr>
        <p:spPr>
          <a:xfrm xmlns:a="http://schemas.openxmlformats.org/drawingml/2006/main">
            <a:off x="8093865" y="3731121"/>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25" name="Text 23">
            <a:extLst xmlns:a="http://schemas.openxmlformats.org/drawingml/2006/main">
              <a:ext uri="{FF2B5EF4-FFF2-40B4-BE49-F238E27FC236}">
                <a16:creationId xmlns:a16="http://schemas.microsoft.com/office/drawing/2014/main" id="{75531800-4190-42B8-B668-A662EF5CD858}"/>
              </a:ext>
            </a:extLst>
          </p:cNvPr>
          <p:cNvSpPr>
            <a:spLocks xmlns:a="http://schemas.openxmlformats.org/drawingml/2006/main" noGrp="1"/>
          </p:cNvSpPr>
          <p:nvPr/>
        </p:nvSpPr>
        <p:spPr>
          <a:xfrm xmlns:a="http://schemas.openxmlformats.org/drawingml/2006/main">
            <a:off x="8171849" y="3781127"/>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6</a:t>
            </a:r>
            <a:endParaRPr sz="1050"/>
          </a:p>
        </p:txBody>
      </p:sp>
      <p:sp>
        <p:nvSpPr>
          <p:cNvPr id="26" name="Text 24">
            <a:extLst xmlns:a="http://schemas.openxmlformats.org/drawingml/2006/main">
              <a:ext uri="{FF2B5EF4-FFF2-40B4-BE49-F238E27FC236}">
                <a16:creationId xmlns:a16="http://schemas.microsoft.com/office/drawing/2014/main" id="{1B1587E5-A9F0-402C-A516-701F179146CA}"/>
              </a:ext>
            </a:extLst>
          </p:cNvPr>
          <p:cNvSpPr>
            <a:spLocks xmlns:a="http://schemas.openxmlformats.org/drawingml/2006/main" noGrp="1"/>
          </p:cNvSpPr>
          <p:nvPr/>
        </p:nvSpPr>
        <p:spPr>
          <a:xfrm xmlns:a="http://schemas.openxmlformats.org/drawingml/2006/main">
            <a:off x="8517717" y="3679527"/>
            <a:ext cx="311519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系统落地与消融实验</a:t>
            </a:r>
            <a:endParaRPr sz="1650"/>
          </a:p>
        </p:txBody>
      </p:sp>
      <p:sp>
        <p:nvSpPr>
          <p:cNvPr id="27" name="Text 25">
            <a:extLst xmlns:a="http://schemas.openxmlformats.org/drawingml/2006/main">
              <a:ext uri="{FF2B5EF4-FFF2-40B4-BE49-F238E27FC236}">
                <a16:creationId xmlns:a16="http://schemas.microsoft.com/office/drawing/2014/main" id="{6A2687B3-975E-4B49-85A2-91D2E18A4C57}"/>
              </a:ext>
            </a:extLst>
          </p:cNvPr>
          <p:cNvSpPr>
            <a:spLocks xmlns:a="http://schemas.openxmlformats.org/drawingml/2006/main" noGrp="1"/>
          </p:cNvSpPr>
          <p:nvPr/>
        </p:nvSpPr>
        <p:spPr>
          <a:xfrm xmlns:a="http://schemas.openxmlformats.org/drawingml/2006/main">
            <a:off x="8517717" y="4072533"/>
            <a:ext cx="3115192"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基于 Vue 3 + FastAPI 构建高响应原型，设置标签硬筛、距离衰减、路线核验等多组对照组进行定量消融评测。</a:t>
            </a:r>
            <a:endParaRPr sz="1350"/>
          </a:p>
        </p:txBody>
      </p:sp>
      <p:sp>
        <p:nvSpPr>
          <p:cNvPr id="28" name="Shape 26">
            <a:extLst xmlns:a="http://schemas.openxmlformats.org/drawingml/2006/main">
              <a:ext uri="{FF2B5EF4-FFF2-40B4-BE49-F238E27FC236}">
                <a16:creationId xmlns:a16="http://schemas.microsoft.com/office/drawing/2014/main" id="{1DEC908D-CA95-4CC2-8FF6-297D05D9D064}"/>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29" name="Text 27">
            <a:extLst xmlns:a="http://schemas.openxmlformats.org/drawingml/2006/main">
              <a:ext uri="{FF2B5EF4-FFF2-40B4-BE49-F238E27FC236}">
                <a16:creationId xmlns:a16="http://schemas.microsoft.com/office/drawing/2014/main" id="{38A6680B-4C2A-4634-B37D-06121875CC9E}"/>
              </a:ext>
            </a:extLst>
          </p:cNvPr>
          <p:cNvSpPr>
            <a:spLocks xmlns:a="http://schemas.openxmlformats.org/drawingml/2006/main" noGrp="1"/>
          </p:cNvSpPr>
          <p:nvPr/>
        </p:nvSpPr>
        <p:spPr>
          <a:xfrm xmlns:a="http://schemas.openxmlformats.org/drawingml/2006/main">
            <a:off x="11565839" y="6351389"/>
            <a:ext cx="625856"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4</a:t>
            </a:r>
            <a:endParaRPr sz="950"/>
          </a:p>
        </p:txBody>
      </p:sp>
      <p:sp>
        <p:nvSpPr>
          <p:cNvPr id="30" name="Shape 28">
            <a:extLst xmlns:a="http://schemas.openxmlformats.org/drawingml/2006/main">
              <a:ext uri="{FF2B5EF4-FFF2-40B4-BE49-F238E27FC236}">
                <a16:creationId xmlns:a16="http://schemas.microsoft.com/office/drawing/2014/main" id="{94DE38C5-32E1-4823-BA4E-ABDD673E138B}"/>
              </a:ext>
            </a:extLst>
          </p:cNvPr>
          <p:cNvSpPr>
            <a:spLocks xmlns:a="http://schemas.openxmlformats.org/drawingml/2006/main" noGrp="1"/>
          </p:cNvSpPr>
          <p:nvPr/>
        </p:nvSpPr>
        <p:spPr>
          <a:xfrm xmlns:a="http://schemas.openxmlformats.org/drawingml/2006/main">
            <a:off x="4243777" y="1987550"/>
            <a:ext cx="12700" cy="1539577"/>
          </a:xfrm>
          <a:prstGeom xmlns:a="http://schemas.openxmlformats.org/drawingml/2006/main" prst="rect">
            <a:avLst/>
          </a:prstGeom>
          <a:solidFill xmlns:a="http://schemas.openxmlformats.org/drawingml/2006/main">
            <a:srgbClr val="1B4A9B"/>
          </a:solidFill>
        </p:spPr>
      </p:sp>
      <p:sp>
        <p:nvSpPr>
          <p:cNvPr id="31" name="Shape 29">
            <a:extLst xmlns:a="http://schemas.openxmlformats.org/drawingml/2006/main">
              <a:ext uri="{FF2B5EF4-FFF2-40B4-BE49-F238E27FC236}">
                <a16:creationId xmlns:a16="http://schemas.microsoft.com/office/drawing/2014/main" id="{46492620-D90D-460E-92B5-C03A2D168ABD}"/>
              </a:ext>
            </a:extLst>
          </p:cNvPr>
          <p:cNvSpPr>
            <a:spLocks xmlns:a="http://schemas.openxmlformats.org/drawingml/2006/main" noGrp="1"/>
          </p:cNvSpPr>
          <p:nvPr/>
        </p:nvSpPr>
        <p:spPr>
          <a:xfrm xmlns:a="http://schemas.openxmlformats.org/drawingml/2006/main">
            <a:off x="7935119" y="1987550"/>
            <a:ext cx="12700" cy="1539577"/>
          </a:xfrm>
          <a:prstGeom xmlns:a="http://schemas.openxmlformats.org/drawingml/2006/main" prst="rect">
            <a:avLst/>
          </a:prstGeom>
          <a:solidFill xmlns:a="http://schemas.openxmlformats.org/drawingml/2006/main">
            <a:srgbClr val="1B4A9B"/>
          </a:solidFill>
        </p:spPr>
      </p:sp>
      <p:sp>
        <p:nvSpPr>
          <p:cNvPr id="32" name="Shape 30">
            <a:extLst xmlns:a="http://schemas.openxmlformats.org/drawingml/2006/main">
              <a:ext uri="{FF2B5EF4-FFF2-40B4-BE49-F238E27FC236}">
                <a16:creationId xmlns:a16="http://schemas.microsoft.com/office/drawing/2014/main" id="{05FCF308-0002-42FA-B56E-4BA2A3F2DCFF}"/>
              </a:ext>
            </a:extLst>
          </p:cNvPr>
          <p:cNvSpPr>
            <a:spLocks xmlns:a="http://schemas.openxmlformats.org/drawingml/2006/main" noGrp="1"/>
          </p:cNvSpPr>
          <p:nvPr/>
        </p:nvSpPr>
        <p:spPr>
          <a:xfrm xmlns:a="http://schemas.openxmlformats.org/drawingml/2006/main">
            <a:off x="558786" y="3520777"/>
            <a:ext cx="3691341" cy="12700"/>
          </a:xfrm>
          <a:prstGeom xmlns:a="http://schemas.openxmlformats.org/drawingml/2006/main" prst="rect">
            <a:avLst/>
          </a:prstGeom>
          <a:solidFill xmlns:a="http://schemas.openxmlformats.org/drawingml/2006/main">
            <a:srgbClr val="1B4A9B"/>
          </a:solidFill>
        </p:spPr>
      </p:sp>
      <p:sp>
        <p:nvSpPr>
          <p:cNvPr id="33" name="Shape 31">
            <a:extLst xmlns:a="http://schemas.openxmlformats.org/drawingml/2006/main">
              <a:ext uri="{FF2B5EF4-FFF2-40B4-BE49-F238E27FC236}">
                <a16:creationId xmlns:a16="http://schemas.microsoft.com/office/drawing/2014/main" id="{F544FCA1-4DE5-4A85-B0EC-54E7635C969F}"/>
              </a:ext>
            </a:extLst>
          </p:cNvPr>
          <p:cNvSpPr>
            <a:spLocks xmlns:a="http://schemas.openxmlformats.org/drawingml/2006/main" noGrp="1"/>
          </p:cNvSpPr>
          <p:nvPr/>
        </p:nvSpPr>
        <p:spPr>
          <a:xfrm xmlns:a="http://schemas.openxmlformats.org/drawingml/2006/main">
            <a:off x="4243777" y="3527127"/>
            <a:ext cx="12700" cy="1291034"/>
          </a:xfrm>
          <a:prstGeom xmlns:a="http://schemas.openxmlformats.org/drawingml/2006/main" prst="rect">
            <a:avLst/>
          </a:prstGeom>
          <a:solidFill xmlns:a="http://schemas.openxmlformats.org/drawingml/2006/main">
            <a:srgbClr val="1B4A9B"/>
          </a:solidFill>
        </p:spPr>
      </p:sp>
      <p:sp>
        <p:nvSpPr>
          <p:cNvPr id="34" name="Shape 32">
            <a:extLst xmlns:a="http://schemas.openxmlformats.org/drawingml/2006/main">
              <a:ext uri="{FF2B5EF4-FFF2-40B4-BE49-F238E27FC236}">
                <a16:creationId xmlns:a16="http://schemas.microsoft.com/office/drawing/2014/main" id="{17E49B87-001C-408C-AC6F-E228D05E00C5}"/>
              </a:ext>
            </a:extLst>
          </p:cNvPr>
          <p:cNvSpPr>
            <a:spLocks xmlns:a="http://schemas.openxmlformats.org/drawingml/2006/main" noGrp="1"/>
          </p:cNvSpPr>
          <p:nvPr/>
        </p:nvSpPr>
        <p:spPr>
          <a:xfrm xmlns:a="http://schemas.openxmlformats.org/drawingml/2006/main">
            <a:off x="4250127" y="3520777"/>
            <a:ext cx="3691341" cy="12700"/>
          </a:xfrm>
          <a:prstGeom xmlns:a="http://schemas.openxmlformats.org/drawingml/2006/main" prst="rect">
            <a:avLst/>
          </a:prstGeom>
          <a:solidFill xmlns:a="http://schemas.openxmlformats.org/drawingml/2006/main">
            <a:srgbClr val="1B4A9B"/>
          </a:solidFill>
        </p:spPr>
      </p:sp>
      <p:sp>
        <p:nvSpPr>
          <p:cNvPr id="35" name="Shape 33">
            <a:extLst xmlns:a="http://schemas.openxmlformats.org/drawingml/2006/main">
              <a:ext uri="{FF2B5EF4-FFF2-40B4-BE49-F238E27FC236}">
                <a16:creationId xmlns:a16="http://schemas.microsoft.com/office/drawing/2014/main" id="{BF0C2940-EDB5-4F39-80DC-99D186F01E65}"/>
              </a:ext>
            </a:extLst>
          </p:cNvPr>
          <p:cNvSpPr>
            <a:spLocks xmlns:a="http://schemas.openxmlformats.org/drawingml/2006/main" noGrp="1"/>
          </p:cNvSpPr>
          <p:nvPr/>
        </p:nvSpPr>
        <p:spPr>
          <a:xfrm xmlns:a="http://schemas.openxmlformats.org/drawingml/2006/main">
            <a:off x="7935119" y="3527127"/>
            <a:ext cx="12700" cy="1291034"/>
          </a:xfrm>
          <a:prstGeom xmlns:a="http://schemas.openxmlformats.org/drawingml/2006/main" prst="rect">
            <a:avLst/>
          </a:prstGeom>
          <a:solidFill xmlns:a="http://schemas.openxmlformats.org/drawingml/2006/main">
            <a:srgbClr val="1B4A9B"/>
          </a:solidFill>
        </p:spPr>
      </p:sp>
      <p:sp>
        <p:nvSpPr>
          <p:cNvPr id="36" name="Shape 34">
            <a:extLst xmlns:a="http://schemas.openxmlformats.org/drawingml/2006/main">
              <a:ext uri="{FF2B5EF4-FFF2-40B4-BE49-F238E27FC236}">
                <a16:creationId xmlns:a16="http://schemas.microsoft.com/office/drawing/2014/main" id="{4D7C9D5D-4293-4A26-A389-918A8E149FAF}"/>
              </a:ext>
            </a:extLst>
          </p:cNvPr>
          <p:cNvSpPr>
            <a:spLocks xmlns:a="http://schemas.openxmlformats.org/drawingml/2006/main" noGrp="1"/>
          </p:cNvSpPr>
          <p:nvPr/>
        </p:nvSpPr>
        <p:spPr>
          <a:xfrm xmlns:a="http://schemas.openxmlformats.org/drawingml/2006/main">
            <a:off x="7941469" y="3520777"/>
            <a:ext cx="3691440" cy="12700"/>
          </a:xfrm>
          <a:prstGeom xmlns:a="http://schemas.openxmlformats.org/drawingml/2006/main" prst="rect">
            <a:avLst/>
          </a:prstGeom>
          <a:solidFill xmlns:a="http://schemas.openxmlformats.org/drawingml/2006/main">
            <a:srgbClr val="1B4A9B"/>
          </a:solidFill>
        </p:spPr>
      </p:sp>
    </p:spTree>
    <p:extLst>
      <p:ext uri="{BB962C8B-B14F-4D97-AF65-F5344CB8AC3E}">
        <p14:creationId xmlns:p14="http://schemas.microsoft.com/office/powerpoint/2010/main" val="184216311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FA9288-3E66-4DC0-9B8E-6669AFF4DE62}"/>
              </a:ext>
            </a:extLst>
          </p:cNvPr>
          <p:cNvSpPr>
            <a:spLocks xmlns:a="http://schemas.openxmlformats.org/drawingml/2006/main" noGrp="1"/>
          </p:cNvSpPr>
          <p:nvPr/>
        </p:nvSpPr>
        <p:spPr>
          <a:xfrm xmlns:a="http://schemas.openxmlformats.org/drawingml/2006/main">
            <a:off x="558786" y="558800"/>
            <a:ext cx="11074123" cy="34131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3000"/>
              </a:lnSpc>
              <a:buNone/>
            </a:pPr>
            <a:r>
              <a:rPr sz="2400" b="1">
                <a:solidFill>
                  <a:srgbClr val="1B4A9B"/>
                </a:solidFill>
                <a:latin typeface="Noto Sans SC Bold"/>
                <a:ea typeface="Noto Sans SC Bold"/>
                <a:cs typeface="Noto Sans SC Bold"/>
              </a:rPr>
              <a:t>设计重点：三项工程机制</a:t>
            </a:r>
            <a:endParaRPr sz="2400"/>
          </a:p>
        </p:txBody>
      </p:sp>
      <p:sp>
        <p:nvSpPr>
          <p:cNvPr id="3" name="Text 1">
            <a:extLst xmlns:a="http://schemas.openxmlformats.org/drawingml/2006/main">
              <a:ext uri="{FF2B5EF4-FFF2-40B4-BE49-F238E27FC236}">
                <a16:creationId xmlns:a16="http://schemas.microsoft.com/office/drawing/2014/main" id="{E281B6E8-AB47-492E-8F62-392E3A7A7515}"/>
              </a:ext>
            </a:extLst>
          </p:cNvPr>
          <p:cNvSpPr>
            <a:spLocks xmlns:a="http://schemas.openxmlformats.org/drawingml/2006/main" noGrp="1"/>
          </p:cNvSpPr>
          <p:nvPr/>
        </p:nvSpPr>
        <p:spPr>
          <a:xfrm xmlns:a="http://schemas.openxmlformats.org/drawingml/2006/main">
            <a:off x="558786" y="1068388"/>
            <a:ext cx="11632909" cy="3038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650">
                <a:solidFill>
                  <a:srgbClr val="1A1A1A"/>
                </a:solidFill>
                <a:latin typeface="Noto Sans SC"/>
                <a:ea typeface="Noto Sans SC"/>
                <a:cs typeface="Noto Sans SC"/>
              </a:rPr>
              <a:t>针对约束遗漏与行程不可行问题，系统采用三项工程机制：</a:t>
            </a:r>
            <a:endParaRPr sz="1650"/>
          </a:p>
        </p:txBody>
      </p:sp>
      <p:sp>
        <p:nvSpPr>
          <p:cNvPr id="4" name="Shape 2">
            <a:extLst xmlns:a="http://schemas.openxmlformats.org/drawingml/2006/main">
              <a:ext uri="{FF2B5EF4-FFF2-40B4-BE49-F238E27FC236}">
                <a16:creationId xmlns:a16="http://schemas.microsoft.com/office/drawing/2014/main" id="{C528F00C-65D0-4650-AF7F-40C284DB2693}"/>
              </a:ext>
            </a:extLst>
          </p:cNvPr>
          <p:cNvSpPr>
            <a:spLocks xmlns:a="http://schemas.openxmlformats.org/drawingml/2006/main" noGrp="1"/>
          </p:cNvSpPr>
          <p:nvPr/>
        </p:nvSpPr>
        <p:spPr>
          <a:xfrm xmlns:a="http://schemas.openxmlformats.org/drawingml/2006/main">
            <a:off x="558786" y="2161381"/>
            <a:ext cx="11074123" cy="773708"/>
          </a:xfrm>
          <a:prstGeom xmlns:a="http://schemas.openxmlformats.org/drawingml/2006/main" prst="rect">
            <a:avLst/>
          </a:prstGeom>
          <a:noFill xmlns:a="http://schemas.openxmlformats.org/drawingml/2006/main"/>
          <a:ln xmlns:a="http://schemas.openxmlformats.org/drawingml/2006/main" w="6350">
            <a:solidFill>
              <a:srgbClr val="1B4A9B"/>
            </a:solidFill>
            <a:prstDash val="solid"/>
          </a:ln>
        </p:spPr>
      </p:sp>
      <p:sp>
        <p:nvSpPr>
          <p:cNvPr id="5" name="Text 3">
            <a:extLst xmlns:a="http://schemas.openxmlformats.org/drawingml/2006/main">
              <a:ext uri="{FF2B5EF4-FFF2-40B4-BE49-F238E27FC236}">
                <a16:creationId xmlns:a16="http://schemas.microsoft.com/office/drawing/2014/main" id="{BFC86665-DED4-4EB3-8E37-C10601C7F5ED}"/>
              </a:ext>
            </a:extLst>
          </p:cNvPr>
          <p:cNvSpPr>
            <a:spLocks xmlns:a="http://schemas.openxmlformats.org/drawingml/2006/main" noGrp="1"/>
          </p:cNvSpPr>
          <p:nvPr/>
        </p:nvSpPr>
        <p:spPr>
          <a:xfrm xmlns:a="http://schemas.openxmlformats.org/drawingml/2006/main">
            <a:off x="3381390" y="2396331"/>
            <a:ext cx="6038500" cy="3038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650" b="1">
                <a:solidFill>
                  <a:srgbClr val="1A1A1A"/>
                </a:solidFill>
                <a:latin typeface="Noto Sans SC Bold"/>
                <a:ea typeface="Noto Sans SC Bold"/>
                <a:cs typeface="Noto Sans SC Bold"/>
              </a:rPr>
              <a:t>交互分流 · 候选约束前置 · 行程动态复核</a:t>
            </a:r>
            <a:endParaRPr sz="1650"/>
          </a:p>
        </p:txBody>
      </p:sp>
      <p:sp>
        <p:nvSpPr>
          <p:cNvPr id="6" name="Text 4">
            <a:extLst xmlns:a="http://schemas.openxmlformats.org/drawingml/2006/main">
              <a:ext uri="{FF2B5EF4-FFF2-40B4-BE49-F238E27FC236}">
                <a16:creationId xmlns:a16="http://schemas.microsoft.com/office/drawing/2014/main" id="{F8629D2B-0CCA-440C-818E-2BF96E37BC48}"/>
              </a:ext>
            </a:extLst>
          </p:cNvPr>
          <p:cNvSpPr>
            <a:spLocks xmlns:a="http://schemas.openxmlformats.org/drawingml/2006/main" noGrp="1"/>
          </p:cNvSpPr>
          <p:nvPr/>
        </p:nvSpPr>
        <p:spPr>
          <a:xfrm xmlns:a="http://schemas.openxmlformats.org/drawingml/2006/main">
            <a:off x="558786" y="3724275"/>
            <a:ext cx="3538945"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问答与规划分流</a:t>
            </a:r>
            <a:endParaRPr sz="1650"/>
          </a:p>
        </p:txBody>
      </p:sp>
      <p:sp>
        <p:nvSpPr>
          <p:cNvPr id="7" name="Text 5">
            <a:extLst xmlns:a="http://schemas.openxmlformats.org/drawingml/2006/main">
              <a:ext uri="{FF2B5EF4-FFF2-40B4-BE49-F238E27FC236}">
                <a16:creationId xmlns:a16="http://schemas.microsoft.com/office/drawing/2014/main" id="{9428F4B2-5BCE-4BB9-88A5-96C15C59EBBB}"/>
              </a:ext>
            </a:extLst>
          </p:cNvPr>
          <p:cNvSpPr>
            <a:spLocks xmlns:a="http://schemas.openxmlformats.org/drawingml/2006/main" noGrp="1"/>
          </p:cNvSpPr>
          <p:nvPr/>
        </p:nvSpPr>
        <p:spPr>
          <a:xfrm xmlns:a="http://schemas.openxmlformats.org/drawingml/2006/main">
            <a:off x="558786" y="4117280"/>
            <a:ext cx="3538945" cy="9941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21000"/>
              </a:lnSpc>
              <a:buNone/>
            </a:pPr>
            <a:r>
              <a:rPr sz="1350" b="1">
                <a:solidFill>
                  <a:srgbClr val="1A1A1A"/>
                </a:solidFill>
                <a:latin typeface="Noto Sans SC Bold"/>
                <a:ea typeface="Noto Sans SC Bold"/>
                <a:cs typeface="Noto Sans SC Bold"/>
              </a:rPr>
              <a:t>普通问答由 ReAct Agent 按需调用工具；正式规划由 LangGraph 工作流处理，用户确认需求卡片后才启动。</a:t>
            </a:r>
            <a:endParaRPr sz="1350"/>
          </a:p>
        </p:txBody>
      </p:sp>
      <p:sp>
        <p:nvSpPr>
          <p:cNvPr id="8" name="Text 6">
            <a:extLst xmlns:a="http://schemas.openxmlformats.org/drawingml/2006/main">
              <a:ext uri="{FF2B5EF4-FFF2-40B4-BE49-F238E27FC236}">
                <a16:creationId xmlns:a16="http://schemas.microsoft.com/office/drawing/2014/main" id="{9C559F03-1C07-4F32-99FD-D8FCC57E91AC}"/>
              </a:ext>
            </a:extLst>
          </p:cNvPr>
          <p:cNvSpPr>
            <a:spLocks xmlns:a="http://schemas.openxmlformats.org/drawingml/2006/main" noGrp="1"/>
          </p:cNvSpPr>
          <p:nvPr/>
        </p:nvSpPr>
        <p:spPr>
          <a:xfrm xmlns:a="http://schemas.openxmlformats.org/drawingml/2006/main">
            <a:off x="4402523" y="3724275"/>
            <a:ext cx="3386549"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景点候选先筛后排</a:t>
            </a:r>
            <a:endParaRPr sz="1650"/>
          </a:p>
        </p:txBody>
      </p:sp>
      <p:sp>
        <p:nvSpPr>
          <p:cNvPr id="9" name="Text 7">
            <a:extLst xmlns:a="http://schemas.openxmlformats.org/drawingml/2006/main">
              <a:ext uri="{FF2B5EF4-FFF2-40B4-BE49-F238E27FC236}">
                <a16:creationId xmlns:a16="http://schemas.microsoft.com/office/drawing/2014/main" id="{E2E472C2-192D-4414-B0B7-3C2A64431251}"/>
              </a:ext>
            </a:extLst>
          </p:cNvPr>
          <p:cNvSpPr>
            <a:spLocks xmlns:a="http://schemas.openxmlformats.org/drawingml/2006/main" noGrp="1"/>
          </p:cNvSpPr>
          <p:nvPr/>
        </p:nvSpPr>
        <p:spPr>
          <a:xfrm xmlns:a="http://schemas.openxmlformats.org/drawingml/2006/main">
            <a:off x="4402523" y="4117280"/>
            <a:ext cx="3386549" cy="9941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21000"/>
              </a:lnSpc>
              <a:buNone/>
            </a:pPr>
            <a:r>
              <a:rPr sz="1350" b="1">
                <a:solidFill>
                  <a:srgbClr val="1A1A1A"/>
                </a:solidFill>
                <a:latin typeface="Noto Sans SC Bold"/>
                <a:ea typeface="Noto Sans SC Bold"/>
                <a:cs typeface="Noto Sans SC Bold"/>
              </a:rPr>
              <a:t>规划景点先按本地数据、城市与标签筛选，再结合语义和距离排序；旅行指南仅用于普通问答检索，不混入景点候选。</a:t>
            </a:r>
            <a:endParaRPr sz="1350"/>
          </a:p>
        </p:txBody>
      </p:sp>
      <p:sp>
        <p:nvSpPr>
          <p:cNvPr id="10" name="Text 8">
            <a:extLst xmlns:a="http://schemas.openxmlformats.org/drawingml/2006/main">
              <a:ext uri="{FF2B5EF4-FFF2-40B4-BE49-F238E27FC236}">
                <a16:creationId xmlns:a16="http://schemas.microsoft.com/office/drawing/2014/main" id="{3EF4D1E5-13E5-430B-98EB-C121F9D64950}"/>
              </a:ext>
            </a:extLst>
          </p:cNvPr>
          <p:cNvSpPr>
            <a:spLocks xmlns:a="http://schemas.openxmlformats.org/drawingml/2006/main" noGrp="1"/>
          </p:cNvSpPr>
          <p:nvPr/>
        </p:nvSpPr>
        <p:spPr>
          <a:xfrm xmlns:a="http://schemas.openxmlformats.org/drawingml/2006/main">
            <a:off x="8093865" y="3724275"/>
            <a:ext cx="3539044"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逐点复核路线与时间</a:t>
            </a:r>
            <a:endParaRPr sz="1650"/>
          </a:p>
        </p:txBody>
      </p:sp>
      <p:sp>
        <p:nvSpPr>
          <p:cNvPr id="11" name="Text 9">
            <a:extLst xmlns:a="http://schemas.openxmlformats.org/drawingml/2006/main">
              <a:ext uri="{FF2B5EF4-FFF2-40B4-BE49-F238E27FC236}">
                <a16:creationId xmlns:a16="http://schemas.microsoft.com/office/drawing/2014/main" id="{41AF5C58-F36F-419C-9CC3-F6A7F6EE71F9}"/>
              </a:ext>
            </a:extLst>
          </p:cNvPr>
          <p:cNvSpPr>
            <a:spLocks xmlns:a="http://schemas.openxmlformats.org/drawingml/2006/main" noGrp="1"/>
          </p:cNvSpPr>
          <p:nvPr/>
        </p:nvSpPr>
        <p:spPr>
          <a:xfrm xmlns:a="http://schemas.openxmlformats.org/drawingml/2006/main">
            <a:off x="8093865" y="4117280"/>
            <a:ext cx="3539044" cy="7456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21000"/>
              </a:lnSpc>
              <a:buNone/>
            </a:pPr>
            <a:r>
              <a:rPr sz="1350" b="1">
                <a:solidFill>
                  <a:srgbClr val="1A1A1A"/>
                </a:solidFill>
                <a:latin typeface="Noto Sans SC Bold"/>
                <a:ea typeface="Noto Sans SC Bold"/>
                <a:cs typeface="Noto Sans SC Bold"/>
              </a:rPr>
              <a:t>每加入一个景点，就重新计算路网耗时与当日剩余时间，再检查后续景点是否仍可安排。</a:t>
            </a:r>
            <a:endParaRPr sz="1350"/>
          </a:p>
        </p:txBody>
      </p:sp>
      <p:sp>
        <p:nvSpPr>
          <p:cNvPr id="12" name="Text 10">
            <a:extLst xmlns:a="http://schemas.openxmlformats.org/drawingml/2006/main">
              <a:ext uri="{FF2B5EF4-FFF2-40B4-BE49-F238E27FC236}">
                <a16:creationId xmlns:a16="http://schemas.microsoft.com/office/drawing/2014/main" id="{B2A2D096-E6EA-46EC-9C53-8CE18AB66D6D}"/>
              </a:ext>
            </a:extLst>
          </p:cNvPr>
          <p:cNvSpPr>
            <a:spLocks xmlns:a="http://schemas.openxmlformats.org/drawingml/2006/main" noGrp="1"/>
          </p:cNvSpPr>
          <p:nvPr/>
        </p:nvSpPr>
        <p:spPr>
          <a:xfrm xmlns:a="http://schemas.openxmlformats.org/drawingml/2006/main">
            <a:off x="558786" y="5263852"/>
            <a:ext cx="11632909" cy="19714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1150" spc="6">
                <a:solidFill>
                  <a:srgbClr val="1B4A9B"/>
                </a:solidFill>
                <a:latin typeface="Noto Sans SC Medium"/>
                <a:ea typeface="Noto Sans SC Medium"/>
                <a:cs typeface="Noto Sans SC Medium"/>
              </a:rPr>
              <a:t>核心价值：把行程生成拆成可检查、可修正的步骤，发现冲突时及时调整，减少不合规安排。</a:t>
            </a:r>
            <a:endParaRPr sz="1150"/>
          </a:p>
        </p:txBody>
      </p:sp>
      <p:sp>
        <p:nvSpPr>
          <p:cNvPr id="13" name="Shape 11">
            <a:extLst xmlns:a="http://schemas.openxmlformats.org/drawingml/2006/main">
              <a:ext uri="{FF2B5EF4-FFF2-40B4-BE49-F238E27FC236}">
                <a16:creationId xmlns:a16="http://schemas.microsoft.com/office/drawing/2014/main" id="{8264C071-7386-4864-812F-813988BF2435}"/>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14" name="Text 12">
            <a:extLst xmlns:a="http://schemas.openxmlformats.org/drawingml/2006/main">
              <a:ext uri="{FF2B5EF4-FFF2-40B4-BE49-F238E27FC236}">
                <a16:creationId xmlns:a16="http://schemas.microsoft.com/office/drawing/2014/main" id="{AB872620-E48D-480C-B56E-19A43D7DDACE}"/>
              </a:ext>
            </a:extLst>
          </p:cNvPr>
          <p:cNvSpPr>
            <a:spLocks xmlns:a="http://schemas.openxmlformats.org/drawingml/2006/main" noGrp="1"/>
          </p:cNvSpPr>
          <p:nvPr/>
        </p:nvSpPr>
        <p:spPr>
          <a:xfrm xmlns:a="http://schemas.openxmlformats.org/drawingml/2006/main">
            <a:off x="11565839" y="6351389"/>
            <a:ext cx="625856"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5</a:t>
            </a:r>
            <a:endParaRPr sz="950"/>
          </a:p>
        </p:txBody>
      </p:sp>
      <p:sp>
        <p:nvSpPr>
          <p:cNvPr id="15" name="Shape 13">
            <a:extLst xmlns:a="http://schemas.openxmlformats.org/drawingml/2006/main">
              <a:ext uri="{FF2B5EF4-FFF2-40B4-BE49-F238E27FC236}">
                <a16:creationId xmlns:a16="http://schemas.microsoft.com/office/drawing/2014/main" id="{3ECBF079-2193-4351-8864-0F0FB6540A98}"/>
              </a:ext>
            </a:extLst>
          </p:cNvPr>
          <p:cNvSpPr>
            <a:spLocks xmlns:a="http://schemas.openxmlformats.org/drawingml/2006/main" noGrp="1"/>
          </p:cNvSpPr>
          <p:nvPr/>
        </p:nvSpPr>
        <p:spPr>
          <a:xfrm xmlns:a="http://schemas.openxmlformats.org/drawingml/2006/main">
            <a:off x="4243777" y="3724275"/>
            <a:ext cx="12700" cy="1387177"/>
          </a:xfrm>
          <a:prstGeom xmlns:a="http://schemas.openxmlformats.org/drawingml/2006/main" prst="rect">
            <a:avLst/>
          </a:prstGeom>
          <a:solidFill xmlns:a="http://schemas.openxmlformats.org/drawingml/2006/main">
            <a:srgbClr val="1B4A9B"/>
          </a:solidFill>
        </p:spPr>
      </p:sp>
      <p:sp>
        <p:nvSpPr>
          <p:cNvPr id="16" name="Shape 14">
            <a:extLst xmlns:a="http://schemas.openxmlformats.org/drawingml/2006/main">
              <a:ext uri="{FF2B5EF4-FFF2-40B4-BE49-F238E27FC236}">
                <a16:creationId xmlns:a16="http://schemas.microsoft.com/office/drawing/2014/main" id="{C21C569A-51D3-4BC2-84D9-2AA5EEAD6C39}"/>
              </a:ext>
            </a:extLst>
          </p:cNvPr>
          <p:cNvSpPr>
            <a:spLocks xmlns:a="http://schemas.openxmlformats.org/drawingml/2006/main" noGrp="1"/>
          </p:cNvSpPr>
          <p:nvPr/>
        </p:nvSpPr>
        <p:spPr>
          <a:xfrm xmlns:a="http://schemas.openxmlformats.org/drawingml/2006/main">
            <a:off x="7935119" y="3724275"/>
            <a:ext cx="12700" cy="1387177"/>
          </a:xfrm>
          <a:prstGeom xmlns:a="http://schemas.openxmlformats.org/drawingml/2006/main" prst="rect">
            <a:avLst/>
          </a:prstGeom>
          <a:solidFill xmlns:a="http://schemas.openxmlformats.org/drawingml/2006/main">
            <a:srgbClr val="1B4A9B"/>
          </a:solidFill>
        </p:spPr>
      </p:sp>
    </p:spTree>
    <p:extLst>
      <p:ext uri="{BB962C8B-B14F-4D97-AF65-F5344CB8AC3E}">
        <p14:creationId xmlns:p14="http://schemas.microsoft.com/office/powerpoint/2010/main" val="133042723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AB83524-28E9-4D29-98A9-E9C9060B5177}"/>
              </a:ext>
            </a:extLst>
          </p:cNvPr>
          <p:cNvSpPr>
            <a:spLocks xmlns:a="http://schemas.openxmlformats.org/drawingml/2006/main" noGrp="1"/>
          </p:cNvSpPr>
          <p:nvPr/>
        </p:nvSpPr>
        <p:spPr>
          <a:xfrm xmlns:a="http://schemas.openxmlformats.org/drawingml/2006/main">
            <a:off x="558786" y="558800"/>
            <a:ext cx="11074123" cy="34131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3000"/>
              </a:lnSpc>
              <a:buNone/>
            </a:pPr>
            <a:r>
              <a:rPr sz="2400" b="1">
                <a:solidFill>
                  <a:srgbClr val="1B4A9B"/>
                </a:solidFill>
                <a:latin typeface="Noto Sans SC Bold"/>
                <a:ea typeface="Noto Sans SC Bold"/>
                <a:cs typeface="Noto Sans SC Bold"/>
              </a:rPr>
              <a:t>研究方法与技术路线论证</a:t>
            </a:r>
            <a:endParaRPr sz="24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b900faa53c374bb8"/>
          <a:stretch xmlns:a="http://schemas.openxmlformats.org/drawingml/2006/main">
            <a:fillRect l="0" t="0" r="0" b="0"/>
          </a:stretch>
        </p:blipFill>
        <p:spPr>
          <a:xfrm xmlns:a="http://schemas.openxmlformats.org/drawingml/2006/main">
            <a:off x="558786" y="1733352"/>
            <a:ext cx="380990" cy="381000"/>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0DF2AE05-8555-4D44-938C-0FB8CEDB5ED7}"/>
              </a:ext>
            </a:extLst>
          </p:cNvPr>
          <p:cNvSpPr>
            <a:spLocks xmlns:a="http://schemas.openxmlformats.org/drawingml/2006/main" noGrp="1"/>
          </p:cNvSpPr>
          <p:nvPr/>
        </p:nvSpPr>
        <p:spPr>
          <a:xfrm xmlns:a="http://schemas.openxmlformats.org/drawingml/2006/main">
            <a:off x="1130272" y="1806476"/>
            <a:ext cx="4736981"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文献研究与矩阵分析</a:t>
            </a:r>
            <a:endParaRPr sz="1650"/>
          </a:p>
        </p:txBody>
      </p:sp>
      <p:sp>
        <p:nvSpPr>
          <p:cNvPr id="5" name="Text 2">
            <a:extLst xmlns:a="http://schemas.openxmlformats.org/drawingml/2006/main">
              <a:ext uri="{FF2B5EF4-FFF2-40B4-BE49-F238E27FC236}">
                <a16:creationId xmlns:a16="http://schemas.microsoft.com/office/drawing/2014/main" id="{5075C381-6DF3-40E3-87E7-92A68DA45F24}"/>
              </a:ext>
            </a:extLst>
          </p:cNvPr>
          <p:cNvSpPr>
            <a:spLocks xmlns:a="http://schemas.openxmlformats.org/drawingml/2006/main" noGrp="1"/>
          </p:cNvSpPr>
          <p:nvPr/>
        </p:nvSpPr>
        <p:spPr>
          <a:xfrm xmlns:a="http://schemas.openxmlformats.org/drawingml/2006/main">
            <a:off x="1130272" y="2199481"/>
            <a:ext cx="4736981" cy="8286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梳理旅行商问题（TSP/OP）、LLM Agent 工具调用及 Graph 编排相关文献，确立系统能力边界与量化对比基准指标。</a:t>
            </a:r>
            <a:endParaRPr sz="1500"/>
          </a:p>
        </p:txBody>
      </p:sp>
      <p:pic>
        <p:nvPicPr>
          <p:cNvPr id="29" name="Image 1"/>
          <p:cNvPicPr>
            <a:picLocks xmlns:a="http://schemas.openxmlformats.org/drawingml/2006/main" noChangeAspect="1"/>
          </p:cNvPicPr>
          <p:nvPr/>
        </p:nvPicPr>
        <p:blipFill>
          <a:blip xmlns:r="http://schemas.openxmlformats.org/officeDocument/2006/relationships" xmlns:a="http://schemas.openxmlformats.org/drawingml/2006/main" r:embed="R028007de576a4719"/>
          <a:stretch xmlns:a="http://schemas.openxmlformats.org/drawingml/2006/main">
            <a:fillRect l="0" t="0" r="0" b="0"/>
          </a:stretch>
        </p:blipFill>
        <p:spPr>
          <a:xfrm xmlns:a="http://schemas.openxmlformats.org/drawingml/2006/main">
            <a:off x="6248244" y="1733352"/>
            <a:ext cx="380990" cy="381000"/>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01D12C83-24E0-467F-AAD0-45CFE4A4CB81}"/>
              </a:ext>
            </a:extLst>
          </p:cNvPr>
          <p:cNvSpPr>
            <a:spLocks xmlns:a="http://schemas.openxmlformats.org/drawingml/2006/main" noGrp="1"/>
          </p:cNvSpPr>
          <p:nvPr/>
        </p:nvSpPr>
        <p:spPr>
          <a:xfrm xmlns:a="http://schemas.openxmlformats.org/drawingml/2006/main">
            <a:off x="6819729" y="1806476"/>
            <a:ext cx="4813180"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案例驱动与基准构建</a:t>
            </a:r>
            <a:endParaRPr sz="1650"/>
          </a:p>
        </p:txBody>
      </p:sp>
      <p:sp>
        <p:nvSpPr>
          <p:cNvPr id="8" name="Text 4">
            <a:extLst xmlns:a="http://schemas.openxmlformats.org/drawingml/2006/main">
              <a:ext uri="{FF2B5EF4-FFF2-40B4-BE49-F238E27FC236}">
                <a16:creationId xmlns:a16="http://schemas.microsoft.com/office/drawing/2014/main" id="{C172AFB5-4E8E-49F4-9EA5-C1F18C8A6EA7}"/>
              </a:ext>
            </a:extLst>
          </p:cNvPr>
          <p:cNvSpPr>
            <a:spLocks xmlns:a="http://schemas.openxmlformats.org/drawingml/2006/main" noGrp="1"/>
          </p:cNvSpPr>
          <p:nvPr/>
        </p:nvSpPr>
        <p:spPr>
          <a:xfrm xmlns:a="http://schemas.openxmlformats.org/drawingml/2006/main">
            <a:off x="6819729" y="2199481"/>
            <a:ext cx="4813180" cy="8286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采集 1～7 天、单/多城市组合的真实旅行案例，模拟冷门景点、极端路况与 API 超时降级等边界异常，沉淀评测数据集。</a:t>
            </a:r>
            <a:endParaRPr sz="1500"/>
          </a:p>
        </p:txBody>
      </p:sp>
      <p:pic>
        <p:nvPicPr>
          <p:cNvPr id="32" name="Image 2"/>
          <p:cNvPicPr>
            <a:picLocks xmlns:a="http://schemas.openxmlformats.org/drawingml/2006/main" noChangeAspect="1"/>
          </p:cNvPicPr>
          <p:nvPr/>
        </p:nvPicPr>
        <p:blipFill>
          <a:blip xmlns:r="http://schemas.openxmlformats.org/officeDocument/2006/relationships" xmlns:a="http://schemas.openxmlformats.org/drawingml/2006/main" r:embed="R58477a359ddd45dd"/>
          <a:stretch xmlns:a="http://schemas.openxmlformats.org/drawingml/2006/main">
            <a:fillRect l="0" t="0" r="0" b="0"/>
          </a:stretch>
        </p:blipFill>
        <p:spPr>
          <a:xfrm xmlns:a="http://schemas.openxmlformats.org/drawingml/2006/main">
            <a:off x="558786" y="3259832"/>
            <a:ext cx="380990" cy="381000"/>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76D353FC-E1C7-4C0E-A1DA-C54621C8995A}"/>
              </a:ext>
            </a:extLst>
          </p:cNvPr>
          <p:cNvSpPr>
            <a:spLocks xmlns:a="http://schemas.openxmlformats.org/drawingml/2006/main" noGrp="1"/>
          </p:cNvSpPr>
          <p:nvPr/>
        </p:nvSpPr>
        <p:spPr>
          <a:xfrm xmlns:a="http://schemas.openxmlformats.org/drawingml/2006/main">
            <a:off x="1130272" y="3332956"/>
            <a:ext cx="4736981"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模块消融与对照实验</a:t>
            </a:r>
            <a:endParaRPr sz="1650"/>
          </a:p>
        </p:txBody>
      </p:sp>
      <p:sp>
        <p:nvSpPr>
          <p:cNvPr id="11" name="Text 6">
            <a:extLst xmlns:a="http://schemas.openxmlformats.org/drawingml/2006/main">
              <a:ext uri="{FF2B5EF4-FFF2-40B4-BE49-F238E27FC236}">
                <a16:creationId xmlns:a16="http://schemas.microsoft.com/office/drawing/2014/main" id="{89BB1E96-2F97-4988-B8C8-57BE0E1180CC}"/>
              </a:ext>
            </a:extLst>
          </p:cNvPr>
          <p:cNvSpPr>
            <a:spLocks xmlns:a="http://schemas.openxmlformats.org/drawingml/2006/main" noGrp="1"/>
          </p:cNvSpPr>
          <p:nvPr/>
        </p:nvSpPr>
        <p:spPr>
          <a:xfrm xmlns:a="http://schemas.openxmlformats.org/drawingml/2006/main">
            <a:off x="1130272" y="3725962"/>
            <a:ext cx="4736981" cy="8286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分别剔除“标签硬筛”、“Chroma语义检索”、“距离衰减权重”及“高德路线校验”，量化分析各组件对有效行程率的贡献度。</a:t>
            </a:r>
            <a:endParaRPr sz="1500"/>
          </a:p>
        </p:txBody>
      </p:sp>
      <p:pic>
        <p:nvPicPr>
          <p:cNvPr id="35" name="Image 3"/>
          <p:cNvPicPr>
            <a:picLocks xmlns:a="http://schemas.openxmlformats.org/drawingml/2006/main" noChangeAspect="1"/>
          </p:cNvPicPr>
          <p:nvPr/>
        </p:nvPicPr>
        <p:blipFill>
          <a:blip xmlns:r="http://schemas.openxmlformats.org/officeDocument/2006/relationships" xmlns:a="http://schemas.openxmlformats.org/drawingml/2006/main" r:embed="R548bf74cc7e7467a"/>
          <a:stretch xmlns:a="http://schemas.openxmlformats.org/drawingml/2006/main">
            <a:fillRect l="0" t="0" r="0" b="0"/>
          </a:stretch>
        </p:blipFill>
        <p:spPr>
          <a:xfrm xmlns:a="http://schemas.openxmlformats.org/drawingml/2006/main">
            <a:off x="6248244" y="3259832"/>
            <a:ext cx="380990" cy="381000"/>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EF3F7F94-D3D3-42E5-A6B6-9AF761DBF3DC}"/>
              </a:ext>
            </a:extLst>
          </p:cNvPr>
          <p:cNvSpPr>
            <a:spLocks xmlns:a="http://schemas.openxmlformats.org/drawingml/2006/main" noGrp="1"/>
          </p:cNvSpPr>
          <p:nvPr/>
        </p:nvSpPr>
        <p:spPr>
          <a:xfrm xmlns:a="http://schemas.openxmlformats.org/drawingml/2006/main">
            <a:off x="6819729" y="3332956"/>
            <a:ext cx="4813180"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误差分类与人工复核</a:t>
            </a:r>
            <a:endParaRPr sz="1650"/>
          </a:p>
        </p:txBody>
      </p:sp>
      <p:sp>
        <p:nvSpPr>
          <p:cNvPr id="14" name="Text 8">
            <a:extLst xmlns:a="http://schemas.openxmlformats.org/drawingml/2006/main">
              <a:ext uri="{FF2B5EF4-FFF2-40B4-BE49-F238E27FC236}">
                <a16:creationId xmlns:a16="http://schemas.microsoft.com/office/drawing/2014/main" id="{E0F7E801-1680-411B-902A-7BBDFFA0F4A3}"/>
              </a:ext>
            </a:extLst>
          </p:cNvPr>
          <p:cNvSpPr>
            <a:spLocks xmlns:a="http://schemas.openxmlformats.org/drawingml/2006/main" noGrp="1"/>
          </p:cNvSpPr>
          <p:nvPr/>
        </p:nvSpPr>
        <p:spPr>
          <a:xfrm xmlns:a="http://schemas.openxmlformats.org/drawingml/2006/main">
            <a:off x="6819729" y="3725962"/>
            <a:ext cx="4813180" cy="8286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a:solidFill>
                  <a:srgbClr val="1A1A1A"/>
                </a:solidFill>
                <a:latin typeface="Noto Sans SC"/>
                <a:ea typeface="Noto Sans SC"/>
                <a:cs typeface="Noto Sans SC"/>
              </a:rPr>
              <a:t>以直接提示工程（Direct Prompting）为 Baseline，组织人工双盲复核，按景点虚构、时间违例、逆向行驶三大维度归类误差。</a:t>
            </a:r>
            <a:endParaRPr sz="1500"/>
          </a:p>
        </p:txBody>
      </p:sp>
      <p:sp>
        <p:nvSpPr>
          <p:cNvPr id="15" name="Shape 9">
            <a:extLst xmlns:a="http://schemas.openxmlformats.org/drawingml/2006/main">
              <a:ext uri="{FF2B5EF4-FFF2-40B4-BE49-F238E27FC236}">
                <a16:creationId xmlns:a16="http://schemas.microsoft.com/office/drawing/2014/main" id="{E794D08F-918D-4676-A73D-2DBF4476EA53}"/>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16" name="Text 10">
            <a:extLst xmlns:a="http://schemas.openxmlformats.org/drawingml/2006/main">
              <a:ext uri="{FF2B5EF4-FFF2-40B4-BE49-F238E27FC236}">
                <a16:creationId xmlns:a16="http://schemas.microsoft.com/office/drawing/2014/main" id="{9C2532D6-AAE3-41AC-9569-72A1E0FD4CE5}"/>
              </a:ext>
            </a:extLst>
          </p:cNvPr>
          <p:cNvSpPr>
            <a:spLocks xmlns:a="http://schemas.openxmlformats.org/drawingml/2006/main" noGrp="1"/>
          </p:cNvSpPr>
          <p:nvPr/>
        </p:nvSpPr>
        <p:spPr>
          <a:xfrm xmlns:a="http://schemas.openxmlformats.org/drawingml/2006/main">
            <a:off x="11565839" y="6351389"/>
            <a:ext cx="625856"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6</a:t>
            </a:r>
            <a:endParaRPr sz="950"/>
          </a:p>
        </p:txBody>
      </p:sp>
      <p:sp>
        <p:nvSpPr>
          <p:cNvPr id="17" name="Shape 11">
            <a:extLst xmlns:a="http://schemas.openxmlformats.org/drawingml/2006/main">
              <a:ext uri="{FF2B5EF4-FFF2-40B4-BE49-F238E27FC236}">
                <a16:creationId xmlns:a16="http://schemas.microsoft.com/office/drawing/2014/main" id="{63ADD585-0AEE-4039-983A-892D3628AEC5}"/>
              </a:ext>
            </a:extLst>
          </p:cNvPr>
          <p:cNvSpPr>
            <a:spLocks xmlns:a="http://schemas.openxmlformats.org/drawingml/2006/main" noGrp="1"/>
          </p:cNvSpPr>
          <p:nvPr/>
        </p:nvSpPr>
        <p:spPr>
          <a:xfrm xmlns:a="http://schemas.openxmlformats.org/drawingml/2006/main">
            <a:off x="6089498" y="1806476"/>
            <a:ext cx="12700" cy="1374080"/>
          </a:xfrm>
          <a:prstGeom xmlns:a="http://schemas.openxmlformats.org/drawingml/2006/main" prst="rect">
            <a:avLst/>
          </a:prstGeom>
          <a:solidFill xmlns:a="http://schemas.openxmlformats.org/drawingml/2006/main">
            <a:srgbClr val="1B4A9B"/>
          </a:solidFill>
        </p:spPr>
      </p:sp>
      <p:sp>
        <p:nvSpPr>
          <p:cNvPr id="18" name="Shape 12">
            <a:extLst xmlns:a="http://schemas.openxmlformats.org/drawingml/2006/main">
              <a:ext uri="{FF2B5EF4-FFF2-40B4-BE49-F238E27FC236}">
                <a16:creationId xmlns:a16="http://schemas.microsoft.com/office/drawing/2014/main" id="{CD1EE76B-B7F2-4AF0-A976-D8B3223FD655}"/>
              </a:ext>
            </a:extLst>
          </p:cNvPr>
          <p:cNvSpPr>
            <a:spLocks xmlns:a="http://schemas.openxmlformats.org/drawingml/2006/main" noGrp="1"/>
          </p:cNvSpPr>
          <p:nvPr/>
        </p:nvSpPr>
        <p:spPr>
          <a:xfrm xmlns:a="http://schemas.openxmlformats.org/drawingml/2006/main">
            <a:off x="558786" y="3174206"/>
            <a:ext cx="5537061" cy="12700"/>
          </a:xfrm>
          <a:prstGeom xmlns:a="http://schemas.openxmlformats.org/drawingml/2006/main" prst="rect">
            <a:avLst/>
          </a:prstGeom>
          <a:solidFill xmlns:a="http://schemas.openxmlformats.org/drawingml/2006/main">
            <a:srgbClr val="1B4A9B"/>
          </a:solidFill>
        </p:spPr>
      </p:sp>
      <p:sp>
        <p:nvSpPr>
          <p:cNvPr id="19" name="Shape 13">
            <a:extLst xmlns:a="http://schemas.openxmlformats.org/drawingml/2006/main">
              <a:ext uri="{FF2B5EF4-FFF2-40B4-BE49-F238E27FC236}">
                <a16:creationId xmlns:a16="http://schemas.microsoft.com/office/drawing/2014/main" id="{7D12BFFE-F836-4923-A6FA-CF722CFF2328}"/>
              </a:ext>
            </a:extLst>
          </p:cNvPr>
          <p:cNvSpPr>
            <a:spLocks xmlns:a="http://schemas.openxmlformats.org/drawingml/2006/main" noGrp="1"/>
          </p:cNvSpPr>
          <p:nvPr/>
        </p:nvSpPr>
        <p:spPr>
          <a:xfrm xmlns:a="http://schemas.openxmlformats.org/drawingml/2006/main">
            <a:off x="6089498" y="3180556"/>
            <a:ext cx="12700" cy="1374080"/>
          </a:xfrm>
          <a:prstGeom xmlns:a="http://schemas.openxmlformats.org/drawingml/2006/main" prst="rect">
            <a:avLst/>
          </a:prstGeom>
          <a:solidFill xmlns:a="http://schemas.openxmlformats.org/drawingml/2006/main">
            <a:srgbClr val="1B4A9B"/>
          </a:solidFill>
        </p:spPr>
      </p:sp>
      <p:sp>
        <p:nvSpPr>
          <p:cNvPr id="20" name="Shape 14">
            <a:extLst xmlns:a="http://schemas.openxmlformats.org/drawingml/2006/main">
              <a:ext uri="{FF2B5EF4-FFF2-40B4-BE49-F238E27FC236}">
                <a16:creationId xmlns:a16="http://schemas.microsoft.com/office/drawing/2014/main" id="{B492FEA2-690D-4E79-B904-0C407AD7954C}"/>
              </a:ext>
            </a:extLst>
          </p:cNvPr>
          <p:cNvSpPr>
            <a:spLocks xmlns:a="http://schemas.openxmlformats.org/drawingml/2006/main" noGrp="1"/>
          </p:cNvSpPr>
          <p:nvPr/>
        </p:nvSpPr>
        <p:spPr>
          <a:xfrm xmlns:a="http://schemas.openxmlformats.org/drawingml/2006/main">
            <a:off x="6095848" y="3174206"/>
            <a:ext cx="5537061" cy="12700"/>
          </a:xfrm>
          <a:prstGeom xmlns:a="http://schemas.openxmlformats.org/drawingml/2006/main" prst="rect">
            <a:avLst/>
          </a:prstGeom>
          <a:solidFill xmlns:a="http://schemas.openxmlformats.org/drawingml/2006/main">
            <a:srgbClr val="1B4A9B"/>
          </a:solidFill>
        </p:spPr>
      </p:sp>
    </p:spTree>
    <p:extLst>
      <p:ext uri="{BB962C8B-B14F-4D97-AF65-F5344CB8AC3E}">
        <p14:creationId xmlns:p14="http://schemas.microsoft.com/office/powerpoint/2010/main" val="170960167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5909C15-69D1-4CC8-B8BC-9570274BB536}"/>
              </a:ext>
            </a:extLst>
          </p:cNvPr>
          <p:cNvSpPr>
            <a:spLocks xmlns:a="http://schemas.openxmlformats.org/drawingml/2006/main" noGrp="1"/>
          </p:cNvSpPr>
          <p:nvPr/>
        </p:nvSpPr>
        <p:spPr>
          <a:xfrm xmlns:a="http://schemas.openxmlformats.org/drawingml/2006/main">
            <a:off x="558786" y="558800"/>
            <a:ext cx="3002284" cy="254000"/>
          </a:xfrm>
          <a:prstGeom xmlns:a="http://schemas.openxmlformats.org/drawingml/2006/main" prst="rect">
            <a:avLst/>
          </a:prstGeom>
          <a:noFill xmlns:a="http://schemas.openxmlformats.org/drawingml/2006/main"/>
          <a:ln xmlns:a="http://schemas.openxmlformats.org/drawingml/2006/main" w="6350">
            <a:solidFill>
              <a:srgbClr val="DFDFE0"/>
            </a:solidFill>
            <a:prstDash val="solid"/>
          </a:ln>
        </p:spPr>
      </p:sp>
      <p:sp>
        <p:nvSpPr>
          <p:cNvPr id="3" name="Text 1">
            <a:extLst xmlns:a="http://schemas.openxmlformats.org/drawingml/2006/main">
              <a:ext uri="{FF2B5EF4-FFF2-40B4-BE49-F238E27FC236}">
                <a16:creationId xmlns:a16="http://schemas.microsoft.com/office/drawing/2014/main" id="{CF2EECEB-64B4-4890-85ED-70EFCB20C154}"/>
              </a:ext>
            </a:extLst>
          </p:cNvPr>
          <p:cNvSpPr>
            <a:spLocks xmlns:a="http://schemas.openxmlformats.org/drawingml/2006/main" noGrp="1"/>
          </p:cNvSpPr>
          <p:nvPr/>
        </p:nvSpPr>
        <p:spPr>
          <a:xfrm xmlns:a="http://schemas.openxmlformats.org/drawingml/2006/main">
            <a:off x="654034" y="590550"/>
            <a:ext cx="3421374" cy="1905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1B4A9B"/>
                </a:solidFill>
                <a:latin typeface="Noto Sans SC Medium"/>
                <a:ea typeface="Noto Sans SC Medium"/>
                <a:cs typeface="Noto Sans SC Medium"/>
              </a:rPr>
              <a:t>系统总体架构 · 双模式分流与状态机设计</a:t>
            </a:r>
            <a:endParaRPr sz="1200"/>
          </a:p>
        </p:txBody>
      </p:sp>
      <p:sp>
        <p:nvSpPr>
          <p:cNvPr id="4" name="Text 2">
            <a:extLst xmlns:a="http://schemas.openxmlformats.org/drawingml/2006/main">
              <a:ext uri="{FF2B5EF4-FFF2-40B4-BE49-F238E27FC236}">
                <a16:creationId xmlns:a16="http://schemas.microsoft.com/office/drawing/2014/main" id="{C715367F-82D4-486F-BF24-C66C5049D9DA}"/>
              </a:ext>
            </a:extLst>
          </p:cNvPr>
          <p:cNvSpPr>
            <a:spLocks xmlns:a="http://schemas.openxmlformats.org/drawingml/2006/main" noGrp="1"/>
          </p:cNvSpPr>
          <p:nvPr/>
        </p:nvSpPr>
        <p:spPr>
          <a:xfrm xmlns:a="http://schemas.openxmlformats.org/drawingml/2006/main">
            <a:off x="558786" y="965200"/>
            <a:ext cx="11074123" cy="34131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3000"/>
              </a:lnSpc>
              <a:buNone/>
            </a:pPr>
            <a:r>
              <a:rPr sz="2400" b="1">
                <a:solidFill>
                  <a:srgbClr val="1B4A9B"/>
                </a:solidFill>
                <a:latin typeface="Noto Sans SC Bold"/>
                <a:ea typeface="Noto Sans SC Bold"/>
                <a:cs typeface="Noto Sans SC Bold"/>
              </a:rPr>
              <a:t>设计方案：双模式技术路线架构</a:t>
            </a:r>
            <a:endParaRPr sz="2400"/>
          </a:p>
        </p:txBody>
      </p:sp>
      <p:sp>
        <p:nvSpPr>
          <p:cNvPr id="5" name="Shape 3">
            <a:extLst xmlns:a="http://schemas.openxmlformats.org/drawingml/2006/main">
              <a:ext uri="{FF2B5EF4-FFF2-40B4-BE49-F238E27FC236}">
                <a16:creationId xmlns:a16="http://schemas.microsoft.com/office/drawing/2014/main" id="{53B2A03A-BE3A-4104-8A74-5AB8A46C1508}"/>
              </a:ext>
            </a:extLst>
          </p:cNvPr>
          <p:cNvSpPr>
            <a:spLocks xmlns:a="http://schemas.openxmlformats.org/drawingml/2006/main" noGrp="1"/>
          </p:cNvSpPr>
          <p:nvPr/>
        </p:nvSpPr>
        <p:spPr>
          <a:xfrm xmlns:a="http://schemas.openxmlformats.org/drawingml/2006/main">
            <a:off x="558786" y="1526381"/>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6" name="Text 4">
            <a:extLst xmlns:a="http://schemas.openxmlformats.org/drawingml/2006/main">
              <a:ext uri="{FF2B5EF4-FFF2-40B4-BE49-F238E27FC236}">
                <a16:creationId xmlns:a16="http://schemas.microsoft.com/office/drawing/2014/main" id="{5DF30E2B-A9C7-4F87-97AA-8980635022D7}"/>
              </a:ext>
            </a:extLst>
          </p:cNvPr>
          <p:cNvSpPr>
            <a:spLocks xmlns:a="http://schemas.openxmlformats.org/drawingml/2006/main" noGrp="1"/>
          </p:cNvSpPr>
          <p:nvPr/>
        </p:nvSpPr>
        <p:spPr>
          <a:xfrm xmlns:a="http://schemas.openxmlformats.org/drawingml/2006/main">
            <a:off x="636770" y="1576388"/>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1</a:t>
            </a:r>
            <a:endParaRPr sz="1050"/>
          </a:p>
        </p:txBody>
      </p:sp>
      <p:sp>
        <p:nvSpPr>
          <p:cNvPr id="7" name="Text 5">
            <a:extLst xmlns:a="http://schemas.openxmlformats.org/drawingml/2006/main">
              <a:ext uri="{FF2B5EF4-FFF2-40B4-BE49-F238E27FC236}">
                <a16:creationId xmlns:a16="http://schemas.microsoft.com/office/drawing/2014/main" id="{D262BF8D-1BBD-4559-86E3-D71EEE4E684F}"/>
              </a:ext>
            </a:extLst>
          </p:cNvPr>
          <p:cNvSpPr>
            <a:spLocks xmlns:a="http://schemas.openxmlformats.org/drawingml/2006/main" noGrp="1"/>
          </p:cNvSpPr>
          <p:nvPr/>
        </p:nvSpPr>
        <p:spPr>
          <a:xfrm xmlns:a="http://schemas.openxmlformats.org/drawingml/2006/main">
            <a:off x="919140" y="1474788"/>
            <a:ext cx="502431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统一网关与身份鉴权</a:t>
            </a:r>
            <a:endParaRPr sz="1650"/>
          </a:p>
        </p:txBody>
      </p:sp>
      <p:sp>
        <p:nvSpPr>
          <p:cNvPr id="8" name="Text 6">
            <a:extLst xmlns:a="http://schemas.openxmlformats.org/drawingml/2006/main">
              <a:ext uri="{FF2B5EF4-FFF2-40B4-BE49-F238E27FC236}">
                <a16:creationId xmlns:a16="http://schemas.microsoft.com/office/drawing/2014/main" id="{A2C94A49-3685-44BF-BFAC-78228E585830}"/>
              </a:ext>
            </a:extLst>
          </p:cNvPr>
          <p:cNvSpPr>
            <a:spLocks xmlns:a="http://schemas.openxmlformats.org/drawingml/2006/main" noGrp="1"/>
          </p:cNvSpPr>
          <p:nvPr/>
        </p:nvSpPr>
        <p:spPr>
          <a:xfrm xmlns:a="http://schemas.openxmlformats.org/drawingml/2006/main">
            <a:off x="919140" y="1867793"/>
            <a:ext cx="5024312" cy="4970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Vue 3 前端发起请求，FastAPI 验证 JWT 令牌，将用户流分为普通终端用户与后台系统管理员两大权限域。</a:t>
            </a:r>
            <a:endParaRPr sz="1350"/>
          </a:p>
        </p:txBody>
      </p:sp>
      <p:sp>
        <p:nvSpPr>
          <p:cNvPr id="9" name="Shape 7">
            <a:extLst xmlns:a="http://schemas.openxmlformats.org/drawingml/2006/main">
              <a:ext uri="{FF2B5EF4-FFF2-40B4-BE49-F238E27FC236}">
                <a16:creationId xmlns:a16="http://schemas.microsoft.com/office/drawing/2014/main" id="{22183129-D618-4884-97DB-EBC643DFA93D}"/>
              </a:ext>
            </a:extLst>
          </p:cNvPr>
          <p:cNvSpPr>
            <a:spLocks xmlns:a="http://schemas.openxmlformats.org/drawingml/2006/main" noGrp="1"/>
          </p:cNvSpPr>
          <p:nvPr/>
        </p:nvSpPr>
        <p:spPr>
          <a:xfrm xmlns:a="http://schemas.openxmlformats.org/drawingml/2006/main">
            <a:off x="6248244" y="1526381"/>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0" name="Text 8">
            <a:extLst xmlns:a="http://schemas.openxmlformats.org/drawingml/2006/main">
              <a:ext uri="{FF2B5EF4-FFF2-40B4-BE49-F238E27FC236}">
                <a16:creationId xmlns:a16="http://schemas.microsoft.com/office/drawing/2014/main" id="{F57E39F8-6522-4563-874B-86732AE5F803}"/>
              </a:ext>
            </a:extLst>
          </p:cNvPr>
          <p:cNvSpPr>
            <a:spLocks xmlns:a="http://schemas.openxmlformats.org/drawingml/2006/main" noGrp="1"/>
          </p:cNvSpPr>
          <p:nvPr/>
        </p:nvSpPr>
        <p:spPr>
          <a:xfrm xmlns:a="http://schemas.openxmlformats.org/drawingml/2006/main">
            <a:off x="6326228" y="1576388"/>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2</a:t>
            </a:r>
            <a:endParaRPr sz="1050"/>
          </a:p>
        </p:txBody>
      </p:sp>
      <p:sp>
        <p:nvSpPr>
          <p:cNvPr id="11" name="Text 9">
            <a:extLst xmlns:a="http://schemas.openxmlformats.org/drawingml/2006/main">
              <a:ext uri="{FF2B5EF4-FFF2-40B4-BE49-F238E27FC236}">
                <a16:creationId xmlns:a16="http://schemas.microsoft.com/office/drawing/2014/main" id="{33EC1F83-42D4-4BF9-A6FD-3B72F2705722}"/>
              </a:ext>
            </a:extLst>
          </p:cNvPr>
          <p:cNvSpPr>
            <a:spLocks xmlns:a="http://schemas.openxmlformats.org/drawingml/2006/main" noGrp="1"/>
          </p:cNvSpPr>
          <p:nvPr/>
        </p:nvSpPr>
        <p:spPr>
          <a:xfrm xmlns:a="http://schemas.openxmlformats.org/drawingml/2006/main">
            <a:off x="6608597" y="1474788"/>
            <a:ext cx="502431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普通模式：ReAct Agent 即时问答</a:t>
            </a:r>
            <a:endParaRPr sz="1650"/>
          </a:p>
        </p:txBody>
      </p:sp>
      <p:sp>
        <p:nvSpPr>
          <p:cNvPr id="12" name="Text 10">
            <a:extLst xmlns:a="http://schemas.openxmlformats.org/drawingml/2006/main">
              <a:ext uri="{FF2B5EF4-FFF2-40B4-BE49-F238E27FC236}">
                <a16:creationId xmlns:a16="http://schemas.microsoft.com/office/drawing/2014/main" id="{DB4CC151-BF11-4FD3-93EE-707723209F7C}"/>
              </a:ext>
            </a:extLst>
          </p:cNvPr>
          <p:cNvSpPr>
            <a:spLocks xmlns:a="http://schemas.openxmlformats.org/drawingml/2006/main" noGrp="1"/>
          </p:cNvSpPr>
          <p:nvPr/>
        </p:nvSpPr>
        <p:spPr>
          <a:xfrm xmlns:a="http://schemas.openxmlformats.org/drawingml/2006/main">
            <a:off x="6608597" y="1867793"/>
            <a:ext cx="5024312" cy="4970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LangChain 驱动，按需调度和风天气、高德路线、附近 POI 检索及 Markdown 指南知识库，提供轻量级咨询响应。</a:t>
            </a:r>
            <a:endParaRPr sz="1350"/>
          </a:p>
        </p:txBody>
      </p:sp>
      <p:sp>
        <p:nvSpPr>
          <p:cNvPr id="13" name="Shape 11">
            <a:extLst xmlns:a="http://schemas.openxmlformats.org/drawingml/2006/main">
              <a:ext uri="{FF2B5EF4-FFF2-40B4-BE49-F238E27FC236}">
                <a16:creationId xmlns:a16="http://schemas.microsoft.com/office/drawing/2014/main" id="{6867487D-2C6B-4873-98A2-8FAFCDEC4585}"/>
              </a:ext>
            </a:extLst>
          </p:cNvPr>
          <p:cNvSpPr>
            <a:spLocks xmlns:a="http://schemas.openxmlformats.org/drawingml/2006/main" noGrp="1"/>
          </p:cNvSpPr>
          <p:nvPr/>
        </p:nvSpPr>
        <p:spPr>
          <a:xfrm xmlns:a="http://schemas.openxmlformats.org/drawingml/2006/main">
            <a:off x="558786" y="2721273"/>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4" name="Text 12">
            <a:extLst xmlns:a="http://schemas.openxmlformats.org/drawingml/2006/main">
              <a:ext uri="{FF2B5EF4-FFF2-40B4-BE49-F238E27FC236}">
                <a16:creationId xmlns:a16="http://schemas.microsoft.com/office/drawing/2014/main" id="{104D529C-A481-45D2-ACEE-AE2F25BC37D5}"/>
              </a:ext>
            </a:extLst>
          </p:cNvPr>
          <p:cNvSpPr>
            <a:spLocks xmlns:a="http://schemas.openxmlformats.org/drawingml/2006/main" noGrp="1"/>
          </p:cNvSpPr>
          <p:nvPr/>
        </p:nvSpPr>
        <p:spPr>
          <a:xfrm xmlns:a="http://schemas.openxmlformats.org/drawingml/2006/main">
            <a:off x="636770" y="2771279"/>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3</a:t>
            </a:r>
            <a:endParaRPr sz="1050"/>
          </a:p>
        </p:txBody>
      </p:sp>
      <p:sp>
        <p:nvSpPr>
          <p:cNvPr id="15" name="Text 13">
            <a:extLst xmlns:a="http://schemas.openxmlformats.org/drawingml/2006/main">
              <a:ext uri="{FF2B5EF4-FFF2-40B4-BE49-F238E27FC236}">
                <a16:creationId xmlns:a16="http://schemas.microsoft.com/office/drawing/2014/main" id="{B707094F-D274-4D0F-8313-E4FB58A5FD55}"/>
              </a:ext>
            </a:extLst>
          </p:cNvPr>
          <p:cNvSpPr>
            <a:spLocks xmlns:a="http://schemas.openxmlformats.org/drawingml/2006/main" noGrp="1"/>
          </p:cNvSpPr>
          <p:nvPr/>
        </p:nvSpPr>
        <p:spPr>
          <a:xfrm xmlns:a="http://schemas.openxmlformats.org/drawingml/2006/main">
            <a:off x="919140" y="2669679"/>
            <a:ext cx="502431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规划子图1：多轮交互需求解析</a:t>
            </a:r>
            <a:endParaRPr sz="1650"/>
          </a:p>
        </p:txBody>
      </p:sp>
      <p:sp>
        <p:nvSpPr>
          <p:cNvPr id="16" name="Text 14">
            <a:extLst xmlns:a="http://schemas.openxmlformats.org/drawingml/2006/main">
              <a:ext uri="{FF2B5EF4-FFF2-40B4-BE49-F238E27FC236}">
                <a16:creationId xmlns:a16="http://schemas.microsoft.com/office/drawing/2014/main" id="{43B7B2F5-A337-4AE9-AA62-04C94761A1C8}"/>
              </a:ext>
            </a:extLst>
          </p:cNvPr>
          <p:cNvSpPr>
            <a:spLocks xmlns:a="http://schemas.openxmlformats.org/drawingml/2006/main" noGrp="1"/>
          </p:cNvSpPr>
          <p:nvPr/>
        </p:nvSpPr>
        <p:spPr>
          <a:xfrm xmlns:a="http://schemas.openxmlformats.org/drawingml/2006/main">
            <a:off x="919140" y="3062684"/>
            <a:ext cx="5024312" cy="4970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LangGraph 状态图启动，LLM 提取目的地、天数、同伴与偏好标签，生成待确认卡片，用户确认后冻结需求。</a:t>
            </a:r>
            <a:endParaRPr sz="1350"/>
          </a:p>
        </p:txBody>
      </p:sp>
      <p:sp>
        <p:nvSpPr>
          <p:cNvPr id="17" name="Shape 15">
            <a:extLst xmlns:a="http://schemas.openxmlformats.org/drawingml/2006/main">
              <a:ext uri="{FF2B5EF4-FFF2-40B4-BE49-F238E27FC236}">
                <a16:creationId xmlns:a16="http://schemas.microsoft.com/office/drawing/2014/main" id="{79079C2D-9B97-4070-ADFB-FFB1A460AFCA}"/>
              </a:ext>
            </a:extLst>
          </p:cNvPr>
          <p:cNvSpPr>
            <a:spLocks xmlns:a="http://schemas.openxmlformats.org/drawingml/2006/main" noGrp="1"/>
          </p:cNvSpPr>
          <p:nvPr/>
        </p:nvSpPr>
        <p:spPr>
          <a:xfrm xmlns:a="http://schemas.openxmlformats.org/drawingml/2006/main">
            <a:off x="6248244" y="2721273"/>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8" name="Text 16">
            <a:extLst xmlns:a="http://schemas.openxmlformats.org/drawingml/2006/main">
              <a:ext uri="{FF2B5EF4-FFF2-40B4-BE49-F238E27FC236}">
                <a16:creationId xmlns:a16="http://schemas.microsoft.com/office/drawing/2014/main" id="{070F70B5-6FA5-4D55-BDE8-5F7D4ED8D40E}"/>
              </a:ext>
            </a:extLst>
          </p:cNvPr>
          <p:cNvSpPr>
            <a:spLocks xmlns:a="http://schemas.openxmlformats.org/drawingml/2006/main" noGrp="1"/>
          </p:cNvSpPr>
          <p:nvPr/>
        </p:nvSpPr>
        <p:spPr>
          <a:xfrm xmlns:a="http://schemas.openxmlformats.org/drawingml/2006/main">
            <a:off x="6326228" y="2771279"/>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4</a:t>
            </a:r>
            <a:endParaRPr sz="1050"/>
          </a:p>
        </p:txBody>
      </p:sp>
      <p:sp>
        <p:nvSpPr>
          <p:cNvPr id="19" name="Text 17">
            <a:extLst xmlns:a="http://schemas.openxmlformats.org/drawingml/2006/main">
              <a:ext uri="{FF2B5EF4-FFF2-40B4-BE49-F238E27FC236}">
                <a16:creationId xmlns:a16="http://schemas.microsoft.com/office/drawing/2014/main" id="{16DA5B35-797A-47CE-970B-F8EA5E1AF6F2}"/>
              </a:ext>
            </a:extLst>
          </p:cNvPr>
          <p:cNvSpPr>
            <a:spLocks xmlns:a="http://schemas.openxmlformats.org/drawingml/2006/main" noGrp="1"/>
          </p:cNvSpPr>
          <p:nvPr/>
        </p:nvSpPr>
        <p:spPr>
          <a:xfrm xmlns:a="http://schemas.openxmlformats.org/drawingml/2006/main">
            <a:off x="6608597" y="2669679"/>
            <a:ext cx="502431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规划子图2：可信候选与动态排程</a:t>
            </a:r>
            <a:endParaRPr sz="1650"/>
          </a:p>
        </p:txBody>
      </p:sp>
      <p:sp>
        <p:nvSpPr>
          <p:cNvPr id="20" name="Text 18">
            <a:extLst xmlns:a="http://schemas.openxmlformats.org/drawingml/2006/main">
              <a:ext uri="{FF2B5EF4-FFF2-40B4-BE49-F238E27FC236}">
                <a16:creationId xmlns:a16="http://schemas.microsoft.com/office/drawing/2014/main" id="{80CFE64D-A8E1-4691-AB0B-95F6BCDC7339}"/>
              </a:ext>
            </a:extLst>
          </p:cNvPr>
          <p:cNvSpPr>
            <a:spLocks xmlns:a="http://schemas.openxmlformats.org/drawingml/2006/main" noGrp="1"/>
          </p:cNvSpPr>
          <p:nvPr/>
        </p:nvSpPr>
        <p:spPr>
          <a:xfrm xmlns:a="http://schemas.openxmlformats.org/drawingml/2006/main">
            <a:off x="6608597" y="3062684"/>
            <a:ext cx="5024312" cy="4970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MySQL 过滤城市景点实体，Chroma+BM25 混合打分；结合高德驾车/公交距离矩阵，贪心迭代生成每日日程。</a:t>
            </a:r>
            <a:endParaRPr sz="1350"/>
          </a:p>
        </p:txBody>
      </p:sp>
      <p:sp>
        <p:nvSpPr>
          <p:cNvPr id="21" name="Shape 19">
            <a:extLst xmlns:a="http://schemas.openxmlformats.org/drawingml/2006/main">
              <a:ext uri="{FF2B5EF4-FFF2-40B4-BE49-F238E27FC236}">
                <a16:creationId xmlns:a16="http://schemas.microsoft.com/office/drawing/2014/main" id="{7DE23867-A81C-4C64-922F-15061F02BE07}"/>
              </a:ext>
            </a:extLst>
          </p:cNvPr>
          <p:cNvSpPr>
            <a:spLocks xmlns:a="http://schemas.openxmlformats.org/drawingml/2006/main" noGrp="1"/>
          </p:cNvSpPr>
          <p:nvPr/>
        </p:nvSpPr>
        <p:spPr>
          <a:xfrm xmlns:a="http://schemas.openxmlformats.org/drawingml/2006/main">
            <a:off x="558786" y="3916164"/>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22" name="Text 20">
            <a:extLst xmlns:a="http://schemas.openxmlformats.org/drawingml/2006/main">
              <a:ext uri="{FF2B5EF4-FFF2-40B4-BE49-F238E27FC236}">
                <a16:creationId xmlns:a16="http://schemas.microsoft.com/office/drawing/2014/main" id="{FBBF467C-FC55-4506-A53A-E5B5FF39E17B}"/>
              </a:ext>
            </a:extLst>
          </p:cNvPr>
          <p:cNvSpPr>
            <a:spLocks xmlns:a="http://schemas.openxmlformats.org/drawingml/2006/main" noGrp="1"/>
          </p:cNvSpPr>
          <p:nvPr/>
        </p:nvSpPr>
        <p:spPr>
          <a:xfrm xmlns:a="http://schemas.openxmlformats.org/drawingml/2006/main">
            <a:off x="636770" y="3966170"/>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5</a:t>
            </a:r>
            <a:endParaRPr sz="1050"/>
          </a:p>
        </p:txBody>
      </p:sp>
      <p:sp>
        <p:nvSpPr>
          <p:cNvPr id="23" name="Text 21">
            <a:extLst xmlns:a="http://schemas.openxmlformats.org/drawingml/2006/main">
              <a:ext uri="{FF2B5EF4-FFF2-40B4-BE49-F238E27FC236}">
                <a16:creationId xmlns:a16="http://schemas.microsoft.com/office/drawing/2014/main" id="{B9761F80-C857-45BA-821F-68C65AA50C54}"/>
              </a:ext>
            </a:extLst>
          </p:cNvPr>
          <p:cNvSpPr>
            <a:spLocks xmlns:a="http://schemas.openxmlformats.org/drawingml/2006/main" noGrp="1"/>
          </p:cNvSpPr>
          <p:nvPr/>
        </p:nvSpPr>
        <p:spPr>
          <a:xfrm xmlns:a="http://schemas.openxmlformats.org/drawingml/2006/main">
            <a:off x="919140" y="3864570"/>
            <a:ext cx="502431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规划子图3 &amp; 4：行程增强与质量核验</a:t>
            </a:r>
            <a:endParaRPr sz="1650"/>
          </a:p>
        </p:txBody>
      </p:sp>
      <p:sp>
        <p:nvSpPr>
          <p:cNvPr id="24" name="Text 22">
            <a:extLst xmlns:a="http://schemas.openxmlformats.org/drawingml/2006/main">
              <a:ext uri="{FF2B5EF4-FFF2-40B4-BE49-F238E27FC236}">
                <a16:creationId xmlns:a16="http://schemas.microsoft.com/office/drawing/2014/main" id="{160B2A72-A40C-4007-BFCF-4227A9CB481F}"/>
              </a:ext>
            </a:extLst>
          </p:cNvPr>
          <p:cNvSpPr>
            <a:spLocks xmlns:a="http://schemas.openxmlformats.org/drawingml/2006/main" noGrp="1"/>
          </p:cNvSpPr>
          <p:nvPr/>
        </p:nvSpPr>
        <p:spPr>
          <a:xfrm xmlns:a="http://schemas.openxmlformats.org/drawingml/2006/main">
            <a:off x="919140" y="4257576"/>
            <a:ext cx="5024312" cy="4970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自动匹配宿位与天气情况；硬性规则校验时间戳与闭馆时间，模型复核文案连贯性，生成高德路线可视化。</a:t>
            </a:r>
            <a:endParaRPr sz="1350"/>
          </a:p>
        </p:txBody>
      </p:sp>
      <p:sp>
        <p:nvSpPr>
          <p:cNvPr id="25" name="Shape 23">
            <a:extLst xmlns:a="http://schemas.openxmlformats.org/drawingml/2006/main">
              <a:ext uri="{FF2B5EF4-FFF2-40B4-BE49-F238E27FC236}">
                <a16:creationId xmlns:a16="http://schemas.microsoft.com/office/drawing/2014/main" id="{7A9C2F66-0B0E-41C2-88F3-1BB29F58E0CD}"/>
              </a:ext>
            </a:extLst>
          </p:cNvPr>
          <p:cNvSpPr>
            <a:spLocks xmlns:a="http://schemas.openxmlformats.org/drawingml/2006/main" noGrp="1"/>
          </p:cNvSpPr>
          <p:nvPr/>
        </p:nvSpPr>
        <p:spPr>
          <a:xfrm xmlns:a="http://schemas.openxmlformats.org/drawingml/2006/main">
            <a:off x="6248244" y="3916164"/>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26" name="Text 24">
            <a:extLst xmlns:a="http://schemas.openxmlformats.org/drawingml/2006/main">
              <a:ext uri="{FF2B5EF4-FFF2-40B4-BE49-F238E27FC236}">
                <a16:creationId xmlns:a16="http://schemas.microsoft.com/office/drawing/2014/main" id="{9218E78A-4366-459E-B583-9AE628267C73}"/>
              </a:ext>
            </a:extLst>
          </p:cNvPr>
          <p:cNvSpPr>
            <a:spLocks xmlns:a="http://schemas.openxmlformats.org/drawingml/2006/main" noGrp="1"/>
          </p:cNvSpPr>
          <p:nvPr/>
        </p:nvSpPr>
        <p:spPr>
          <a:xfrm xmlns:a="http://schemas.openxmlformats.org/drawingml/2006/main">
            <a:off x="6326228" y="3966170"/>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6</a:t>
            </a:r>
            <a:endParaRPr sz="1050"/>
          </a:p>
        </p:txBody>
      </p:sp>
      <p:sp>
        <p:nvSpPr>
          <p:cNvPr id="27" name="Text 25">
            <a:extLst xmlns:a="http://schemas.openxmlformats.org/drawingml/2006/main">
              <a:ext uri="{FF2B5EF4-FFF2-40B4-BE49-F238E27FC236}">
                <a16:creationId xmlns:a16="http://schemas.microsoft.com/office/drawing/2014/main" id="{ECE609D3-1D3A-4443-BD93-D25B4BC15F2B}"/>
              </a:ext>
            </a:extLst>
          </p:cNvPr>
          <p:cNvSpPr>
            <a:spLocks xmlns:a="http://schemas.openxmlformats.org/drawingml/2006/main" noGrp="1"/>
          </p:cNvSpPr>
          <p:nvPr/>
        </p:nvSpPr>
        <p:spPr>
          <a:xfrm xmlns:a="http://schemas.openxmlformats.org/drawingml/2006/main">
            <a:off x="6608597" y="3864570"/>
            <a:ext cx="502431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管理员后台：知识库与运行监控</a:t>
            </a:r>
            <a:endParaRPr sz="1650"/>
          </a:p>
        </p:txBody>
      </p:sp>
      <p:sp>
        <p:nvSpPr>
          <p:cNvPr id="28" name="Text 26">
            <a:extLst xmlns:a="http://schemas.openxmlformats.org/drawingml/2006/main">
              <a:ext uri="{FF2B5EF4-FFF2-40B4-BE49-F238E27FC236}">
                <a16:creationId xmlns:a16="http://schemas.microsoft.com/office/drawing/2014/main" id="{C39B6BD1-E5D9-45E8-8D2A-1381F0E9A0CE}"/>
              </a:ext>
            </a:extLst>
          </p:cNvPr>
          <p:cNvSpPr>
            <a:spLocks xmlns:a="http://schemas.openxmlformats.org/drawingml/2006/main" noGrp="1"/>
          </p:cNvSpPr>
          <p:nvPr/>
        </p:nvSpPr>
        <p:spPr>
          <a:xfrm xmlns:a="http://schemas.openxmlformats.org/drawingml/2006/main">
            <a:off x="6608597" y="4257576"/>
            <a:ext cx="5024312" cy="4970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提供用户行为日志审计、生成方案抽检归档，以及 Markdown 格式旅游指南的上传、切片与向量索引维护。</a:t>
            </a:r>
            <a:endParaRPr sz="1350"/>
          </a:p>
        </p:txBody>
      </p:sp>
      <p:sp>
        <p:nvSpPr>
          <p:cNvPr id="29" name="Shape 27">
            <a:extLst xmlns:a="http://schemas.openxmlformats.org/drawingml/2006/main">
              <a:ext uri="{FF2B5EF4-FFF2-40B4-BE49-F238E27FC236}">
                <a16:creationId xmlns:a16="http://schemas.microsoft.com/office/drawing/2014/main" id="{EFD19D6B-CF62-44E4-BA86-6E91BE21DFCD}"/>
              </a:ext>
            </a:extLst>
          </p:cNvPr>
          <p:cNvSpPr>
            <a:spLocks xmlns:a="http://schemas.openxmlformats.org/drawingml/2006/main" noGrp="1"/>
          </p:cNvSpPr>
          <p:nvPr/>
        </p:nvSpPr>
        <p:spPr>
          <a:xfrm xmlns:a="http://schemas.openxmlformats.org/drawingml/2006/main">
            <a:off x="558786" y="4907062"/>
            <a:ext cx="11074123" cy="464443"/>
          </a:xfrm>
          <a:prstGeom xmlns:a="http://schemas.openxmlformats.org/drawingml/2006/main" prst="rect">
            <a:avLst/>
          </a:prstGeom>
          <a:noFill xmlns:a="http://schemas.openxmlformats.org/drawingml/2006/main"/>
          <a:ln xmlns:a="http://schemas.openxmlformats.org/drawingml/2006/main" w="6350">
            <a:solidFill>
              <a:srgbClr val="1B4A9B"/>
            </a:solidFill>
            <a:prstDash val="solid"/>
          </a:ln>
        </p:spPr>
      </p:sp>
      <p:sp>
        <p:nvSpPr>
          <p:cNvPr id="30" name="Text 28">
            <a:extLst xmlns:a="http://schemas.openxmlformats.org/drawingml/2006/main">
              <a:ext uri="{FF2B5EF4-FFF2-40B4-BE49-F238E27FC236}">
                <a16:creationId xmlns:a16="http://schemas.microsoft.com/office/drawing/2014/main" id="{81B7E366-9385-43E2-9BF7-4EC811E362E6}"/>
              </a:ext>
            </a:extLst>
          </p:cNvPr>
          <p:cNvSpPr>
            <a:spLocks xmlns:a="http://schemas.openxmlformats.org/drawingml/2006/main" noGrp="1"/>
          </p:cNvSpPr>
          <p:nvPr/>
        </p:nvSpPr>
        <p:spPr>
          <a:xfrm xmlns:a="http://schemas.openxmlformats.org/drawingml/2006/main">
            <a:off x="793730" y="5015012"/>
            <a:ext cx="10839179" cy="24854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350" b="1">
                <a:solidFill>
                  <a:srgbClr val="1A1A1A"/>
                </a:solidFill>
                <a:latin typeface="Noto Sans SC Bold"/>
                <a:ea typeface="Noto Sans SC Bold"/>
                <a:cs typeface="Noto Sans SC Bold"/>
              </a:rPr>
              <a:t>核心数据流</a:t>
            </a:r>
            <a:r>
              <a:rPr sz="1350">
                <a:solidFill>
                  <a:srgbClr val="1A1A1A"/>
                </a:solidFill>
                <a:latin typeface="Noto Sans SC"/>
                <a:ea typeface="Noto Sans SC"/>
                <a:cs typeface="Noto Sans SC"/>
              </a:rPr>
              <a:t>：</a:t>
            </a:r>
            <a:r>
              <a:rPr sz="1350">
                <a:solidFill>
                  <a:srgbClr val="1A1A1A"/>
                </a:solidFill>
                <a:latin typeface="Consolas"/>
                <a:ea typeface="Consolas"/>
                <a:cs typeface="Consolas"/>
              </a:rPr>
              <a:t>用户输入 → 意图分流 → 状态图循环推进 → 确定性算法计算 → API真实时空校验 → 结构化行程渲染</a:t>
            </a:r>
            <a:endParaRPr sz="1350"/>
          </a:p>
        </p:txBody>
      </p:sp>
      <p:sp>
        <p:nvSpPr>
          <p:cNvPr id="31" name="Shape 29">
            <a:extLst xmlns:a="http://schemas.openxmlformats.org/drawingml/2006/main">
              <a:ext uri="{FF2B5EF4-FFF2-40B4-BE49-F238E27FC236}">
                <a16:creationId xmlns:a16="http://schemas.microsoft.com/office/drawing/2014/main" id="{7BA9F34C-074D-45DC-9D14-51E772C4E910}"/>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32" name="Text 30">
            <a:extLst xmlns:a="http://schemas.openxmlformats.org/drawingml/2006/main">
              <a:ext uri="{FF2B5EF4-FFF2-40B4-BE49-F238E27FC236}">
                <a16:creationId xmlns:a16="http://schemas.microsoft.com/office/drawing/2014/main" id="{86178B3B-E01B-4211-B6A7-0ED529206D8D}"/>
              </a:ext>
            </a:extLst>
          </p:cNvPr>
          <p:cNvSpPr>
            <a:spLocks xmlns:a="http://schemas.openxmlformats.org/drawingml/2006/main" noGrp="1"/>
          </p:cNvSpPr>
          <p:nvPr/>
        </p:nvSpPr>
        <p:spPr>
          <a:xfrm xmlns:a="http://schemas.openxmlformats.org/drawingml/2006/main">
            <a:off x="11565839" y="6351389"/>
            <a:ext cx="625856"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7</a:t>
            </a:r>
            <a:endParaRPr sz="950"/>
          </a:p>
        </p:txBody>
      </p:sp>
      <p:sp>
        <p:nvSpPr>
          <p:cNvPr id="33" name="Shape 31">
            <a:extLst xmlns:a="http://schemas.openxmlformats.org/drawingml/2006/main">
              <a:ext uri="{FF2B5EF4-FFF2-40B4-BE49-F238E27FC236}">
                <a16:creationId xmlns:a16="http://schemas.microsoft.com/office/drawing/2014/main" id="{206EDDA1-A0F1-4204-8EFF-C52CE70514F3}"/>
              </a:ext>
            </a:extLst>
          </p:cNvPr>
          <p:cNvSpPr>
            <a:spLocks xmlns:a="http://schemas.openxmlformats.org/drawingml/2006/main" noGrp="1"/>
          </p:cNvSpPr>
          <p:nvPr/>
        </p:nvSpPr>
        <p:spPr>
          <a:xfrm xmlns:a="http://schemas.openxmlformats.org/drawingml/2006/main">
            <a:off x="6089498" y="1474788"/>
            <a:ext cx="12700" cy="1042491"/>
          </a:xfrm>
          <a:prstGeom xmlns:a="http://schemas.openxmlformats.org/drawingml/2006/main" prst="rect">
            <a:avLst/>
          </a:prstGeom>
          <a:solidFill xmlns:a="http://schemas.openxmlformats.org/drawingml/2006/main">
            <a:srgbClr val="1B4A9B"/>
          </a:solidFill>
        </p:spPr>
      </p:sp>
      <p:sp>
        <p:nvSpPr>
          <p:cNvPr id="34" name="Shape 32">
            <a:extLst xmlns:a="http://schemas.openxmlformats.org/drawingml/2006/main">
              <a:ext uri="{FF2B5EF4-FFF2-40B4-BE49-F238E27FC236}">
                <a16:creationId xmlns:a16="http://schemas.microsoft.com/office/drawing/2014/main" id="{2632D2BA-71C4-4805-9289-C3356137760A}"/>
              </a:ext>
            </a:extLst>
          </p:cNvPr>
          <p:cNvSpPr>
            <a:spLocks xmlns:a="http://schemas.openxmlformats.org/drawingml/2006/main" noGrp="1"/>
          </p:cNvSpPr>
          <p:nvPr/>
        </p:nvSpPr>
        <p:spPr>
          <a:xfrm xmlns:a="http://schemas.openxmlformats.org/drawingml/2006/main">
            <a:off x="558786" y="2510929"/>
            <a:ext cx="5537061" cy="12700"/>
          </a:xfrm>
          <a:prstGeom xmlns:a="http://schemas.openxmlformats.org/drawingml/2006/main" prst="rect">
            <a:avLst/>
          </a:prstGeom>
          <a:solidFill xmlns:a="http://schemas.openxmlformats.org/drawingml/2006/main">
            <a:srgbClr val="1B4A9B"/>
          </a:solidFill>
        </p:spPr>
      </p:sp>
      <p:sp>
        <p:nvSpPr>
          <p:cNvPr id="35" name="Shape 33">
            <a:extLst xmlns:a="http://schemas.openxmlformats.org/drawingml/2006/main">
              <a:ext uri="{FF2B5EF4-FFF2-40B4-BE49-F238E27FC236}">
                <a16:creationId xmlns:a16="http://schemas.microsoft.com/office/drawing/2014/main" id="{199EE1AF-924F-44B8-A091-7A6E35E22F8A}"/>
              </a:ext>
            </a:extLst>
          </p:cNvPr>
          <p:cNvSpPr>
            <a:spLocks xmlns:a="http://schemas.openxmlformats.org/drawingml/2006/main" noGrp="1"/>
          </p:cNvSpPr>
          <p:nvPr/>
        </p:nvSpPr>
        <p:spPr>
          <a:xfrm xmlns:a="http://schemas.openxmlformats.org/drawingml/2006/main">
            <a:off x="6089498" y="2517279"/>
            <a:ext cx="12700" cy="1194891"/>
          </a:xfrm>
          <a:prstGeom xmlns:a="http://schemas.openxmlformats.org/drawingml/2006/main" prst="rect">
            <a:avLst/>
          </a:prstGeom>
          <a:solidFill xmlns:a="http://schemas.openxmlformats.org/drawingml/2006/main">
            <a:srgbClr val="1B4A9B"/>
          </a:solidFill>
        </p:spPr>
      </p:sp>
      <p:sp>
        <p:nvSpPr>
          <p:cNvPr id="36" name="Shape 34">
            <a:extLst xmlns:a="http://schemas.openxmlformats.org/drawingml/2006/main">
              <a:ext uri="{FF2B5EF4-FFF2-40B4-BE49-F238E27FC236}">
                <a16:creationId xmlns:a16="http://schemas.microsoft.com/office/drawing/2014/main" id="{934C7B57-B0B0-4F4A-83BF-99DC44E514D4}"/>
              </a:ext>
            </a:extLst>
          </p:cNvPr>
          <p:cNvSpPr>
            <a:spLocks xmlns:a="http://schemas.openxmlformats.org/drawingml/2006/main" noGrp="1"/>
          </p:cNvSpPr>
          <p:nvPr/>
        </p:nvSpPr>
        <p:spPr>
          <a:xfrm xmlns:a="http://schemas.openxmlformats.org/drawingml/2006/main">
            <a:off x="6095848" y="2510929"/>
            <a:ext cx="5537061" cy="12700"/>
          </a:xfrm>
          <a:prstGeom xmlns:a="http://schemas.openxmlformats.org/drawingml/2006/main" prst="rect">
            <a:avLst/>
          </a:prstGeom>
          <a:solidFill xmlns:a="http://schemas.openxmlformats.org/drawingml/2006/main">
            <a:srgbClr val="1B4A9B"/>
          </a:solidFill>
        </p:spPr>
      </p:sp>
      <p:sp>
        <p:nvSpPr>
          <p:cNvPr id="37" name="Shape 35">
            <a:extLst xmlns:a="http://schemas.openxmlformats.org/drawingml/2006/main">
              <a:ext uri="{FF2B5EF4-FFF2-40B4-BE49-F238E27FC236}">
                <a16:creationId xmlns:a16="http://schemas.microsoft.com/office/drawing/2014/main" id="{001166FA-201D-4A5F-B1B7-87C414EA3FEF}"/>
              </a:ext>
            </a:extLst>
          </p:cNvPr>
          <p:cNvSpPr>
            <a:spLocks xmlns:a="http://schemas.openxmlformats.org/drawingml/2006/main" noGrp="1"/>
          </p:cNvSpPr>
          <p:nvPr/>
        </p:nvSpPr>
        <p:spPr>
          <a:xfrm xmlns:a="http://schemas.openxmlformats.org/drawingml/2006/main">
            <a:off x="558786" y="3705820"/>
            <a:ext cx="5537061" cy="12700"/>
          </a:xfrm>
          <a:prstGeom xmlns:a="http://schemas.openxmlformats.org/drawingml/2006/main" prst="rect">
            <a:avLst/>
          </a:prstGeom>
          <a:solidFill xmlns:a="http://schemas.openxmlformats.org/drawingml/2006/main">
            <a:srgbClr val="1B4A9B"/>
          </a:solidFill>
        </p:spPr>
      </p:sp>
      <p:sp>
        <p:nvSpPr>
          <p:cNvPr id="38" name="Shape 36">
            <a:extLst xmlns:a="http://schemas.openxmlformats.org/drawingml/2006/main">
              <a:ext uri="{FF2B5EF4-FFF2-40B4-BE49-F238E27FC236}">
                <a16:creationId xmlns:a16="http://schemas.microsoft.com/office/drawing/2014/main" id="{D4DCDE32-7749-4776-B3CB-0515A2F22CBA}"/>
              </a:ext>
            </a:extLst>
          </p:cNvPr>
          <p:cNvSpPr>
            <a:spLocks xmlns:a="http://schemas.openxmlformats.org/drawingml/2006/main" noGrp="1"/>
          </p:cNvSpPr>
          <p:nvPr/>
        </p:nvSpPr>
        <p:spPr>
          <a:xfrm xmlns:a="http://schemas.openxmlformats.org/drawingml/2006/main">
            <a:off x="6089498" y="3712170"/>
            <a:ext cx="12700" cy="1042491"/>
          </a:xfrm>
          <a:prstGeom xmlns:a="http://schemas.openxmlformats.org/drawingml/2006/main" prst="rect">
            <a:avLst/>
          </a:prstGeom>
          <a:solidFill xmlns:a="http://schemas.openxmlformats.org/drawingml/2006/main">
            <a:srgbClr val="1B4A9B"/>
          </a:solidFill>
        </p:spPr>
      </p:sp>
      <p:sp>
        <p:nvSpPr>
          <p:cNvPr id="39" name="Shape 37">
            <a:extLst xmlns:a="http://schemas.openxmlformats.org/drawingml/2006/main">
              <a:ext uri="{FF2B5EF4-FFF2-40B4-BE49-F238E27FC236}">
                <a16:creationId xmlns:a16="http://schemas.microsoft.com/office/drawing/2014/main" id="{BFE973E9-CF2B-4DEE-B396-A5FCAC966419}"/>
              </a:ext>
            </a:extLst>
          </p:cNvPr>
          <p:cNvSpPr>
            <a:spLocks xmlns:a="http://schemas.openxmlformats.org/drawingml/2006/main" noGrp="1"/>
          </p:cNvSpPr>
          <p:nvPr/>
        </p:nvSpPr>
        <p:spPr>
          <a:xfrm xmlns:a="http://schemas.openxmlformats.org/drawingml/2006/main">
            <a:off x="6095848" y="3705820"/>
            <a:ext cx="5537061" cy="12700"/>
          </a:xfrm>
          <a:prstGeom xmlns:a="http://schemas.openxmlformats.org/drawingml/2006/main" prst="rect">
            <a:avLst/>
          </a:prstGeom>
          <a:solidFill xmlns:a="http://schemas.openxmlformats.org/drawingml/2006/main">
            <a:srgbClr val="1B4A9B"/>
          </a:solidFill>
        </p:spPr>
      </p:sp>
    </p:spTree>
    <p:extLst>
      <p:ext uri="{BB962C8B-B14F-4D97-AF65-F5344CB8AC3E}">
        <p14:creationId xmlns:p14="http://schemas.microsoft.com/office/powerpoint/2010/main" val="19445254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998C1E-9204-4E7A-9F5E-872B0E219DF8}"/>
              </a:ext>
            </a:extLst>
          </p:cNvPr>
          <p:cNvSpPr>
            <a:spLocks xmlns:a="http://schemas.openxmlformats.org/drawingml/2006/main" noGrp="1"/>
          </p:cNvSpPr>
          <p:nvPr/>
        </p:nvSpPr>
        <p:spPr>
          <a:xfrm xmlns:a="http://schemas.openxmlformats.org/drawingml/2006/main">
            <a:off x="558786" y="558800"/>
            <a:ext cx="11074123" cy="42664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3000"/>
              </a:lnSpc>
              <a:buNone/>
            </a:pPr>
            <a:r>
              <a:rPr sz="3000" b="1">
                <a:solidFill>
                  <a:srgbClr val="1B4A9B"/>
                </a:solidFill>
                <a:latin typeface="Noto Sans SC Bold"/>
                <a:ea typeface="Noto Sans SC Bold"/>
                <a:cs typeface="Noto Sans SC Bold"/>
              </a:rPr>
              <a:t>核心技术选型</a:t>
            </a:r>
            <a:endParaRPr sz="3000"/>
          </a:p>
        </p:txBody>
      </p:sp>
      <p:graphicFrame>
        <p:nvGraphicFramePr>
          <p:cNvPr id="9" name="Table 0"/>
          <p:cNvGraphicFramePr/>
          <p:nvPr/>
        </p:nvGraphicFramePr>
        <p:xfrm>
          <a:off xmlns:a="http://schemas.openxmlformats.org/drawingml/2006/main" x="558786" y="1153716"/>
          <a:ext xmlns:a="http://schemas.openxmlformats.org/drawingml/2006/main" cx="11074124" cy="2589742"/>
        </p:xfrm>
        <a:graphic xmlns:a="http://schemas.openxmlformats.org/drawingml/2006/main">
          <a:graphicData uri="http://schemas.openxmlformats.org/drawingml/2006/table">
            <a:tbl>
              <a:tblPr/>
              <a:tblGrid>
                <a:gridCol w="2657790"/>
                <a:gridCol w="8416334"/>
              </a:tblGrid>
              <a:tr h="432682">
                <a:tc>
                  <a:txBody>
                    <a:bodyPr/>
                    <a:lstStyle/>
                    <a:p>
                      <a:pPr marL="0" indent="0">
                        <a:buNone/>
                      </a:pPr>
                      <a:r>
                        <a:rPr sz="1350">
                          <a:solidFill>
                            <a:srgbClr val="1B4A9B"/>
                          </a:solidFill>
                          <a:latin typeface="Noto Sans SC"/>
                          <a:ea typeface="Noto Sans SC"/>
                          <a:cs typeface="Noto Sans SC"/>
                        </a:rPr>
                        <a:t>层次</a:t>
                      </a:r>
                      <a:endParaRPr sz="1350">
                        <a:latin typeface="Noto Sans SC"/>
                        <a:ea typeface="Noto Sans SC"/>
                        <a:cs typeface="Noto Sans SC"/>
                      </a:endParaRPr>
                    </a:p>
                  </a:txBody>
                  <a:tcPr marL="126997" marR="126997" marT="88898" marB="88898" anchor="ctr">
                    <a:lnL w="12700" cmpd="sng">
                      <a:solidFill>
                        <a:srgbClr val="F4F7FC"/>
                      </a:solidFill>
                      <a:prstDash val="solid"/>
                    </a:lnL>
                    <a:lnR w="12700" cmpd="sng">
                      <a:solidFill>
                        <a:srgbClr val="F4F7FC"/>
                      </a:solidFill>
                      <a:prstDash val="solid"/>
                    </a:lnR>
                    <a:lnT w="12700" cmpd="sng">
                      <a:solidFill>
                        <a:srgbClr val="F4F7FC"/>
                      </a:solidFill>
                      <a:prstDash val="solid"/>
                    </a:lnT>
                    <a:lnB w="12700" cmpd="sng">
                      <a:solidFill>
                        <a:srgbClr val="1B4A9B"/>
                      </a:solidFill>
                      <a:prstDash val="solid"/>
                    </a:lnB>
                    <a:solidFill>
                      <a:srgbClr val="F4F7FC"/>
                    </a:solidFill>
                  </a:tcPr>
                </a:tc>
                <a:tc>
                  <a:txBody>
                    <a:bodyPr/>
                    <a:lstStyle/>
                    <a:p>
                      <a:pPr marL="0" indent="0">
                        <a:buNone/>
                      </a:pPr>
                      <a:r>
                        <a:rPr sz="1350">
                          <a:solidFill>
                            <a:srgbClr val="1B4A9B"/>
                          </a:solidFill>
                          <a:latin typeface="Noto Sans SC"/>
                          <a:ea typeface="Noto Sans SC"/>
                          <a:cs typeface="Noto Sans SC"/>
                        </a:rPr>
                        <a:t>技术</a:t>
                      </a:r>
                      <a:endParaRPr sz="1350">
                        <a:latin typeface="Noto Sans SC"/>
                        <a:ea typeface="Noto Sans SC"/>
                        <a:cs typeface="Noto Sans SC"/>
                      </a:endParaRPr>
                    </a:p>
                  </a:txBody>
                  <a:tcPr marL="126997" marR="126997" marT="88898" marB="88898" anchor="ctr">
                    <a:lnL w="12700" cmpd="sng">
                      <a:solidFill>
                        <a:srgbClr val="F4F7FC"/>
                      </a:solidFill>
                      <a:prstDash val="solid"/>
                    </a:lnL>
                    <a:lnR w="12700" cmpd="sng">
                      <a:solidFill>
                        <a:srgbClr val="F4F7FC"/>
                      </a:solidFill>
                      <a:prstDash val="solid"/>
                    </a:lnR>
                    <a:lnT w="12700" cmpd="sng">
                      <a:solidFill>
                        <a:srgbClr val="F4F7FC"/>
                      </a:solidFill>
                      <a:prstDash val="solid"/>
                    </a:lnT>
                    <a:lnB w="12700" cmpd="sng">
                      <a:solidFill>
                        <a:srgbClr val="1B4A9B"/>
                      </a:solidFill>
                      <a:prstDash val="solid"/>
                    </a:lnB>
                    <a:solidFill>
                      <a:srgbClr val="F4F7FC"/>
                    </a:solidFill>
                  </a:tcPr>
                </a:tc>
              </a:tr>
              <a:tr h="432682">
                <a:tc>
                  <a:txBody>
                    <a:bodyPr/>
                    <a:lstStyle/>
                    <a:p>
                      <a:pPr marL="0" indent="0">
                        <a:buNone/>
                      </a:pPr>
                      <a:r>
                        <a:rPr sz="1350">
                          <a:solidFill>
                            <a:srgbClr val="1A1A1A"/>
                          </a:solidFill>
                          <a:latin typeface="Noto Sans SC"/>
                          <a:ea typeface="Noto Sans SC"/>
                          <a:cs typeface="Noto Sans SC"/>
                        </a:rPr>
                        <a:t>前端</a:t>
                      </a:r>
                      <a:endParaRPr sz="1350">
                        <a:latin typeface="Noto Sans SC"/>
                        <a:ea typeface="Noto Sans SC"/>
                        <a:cs typeface="Noto Sans SC"/>
                      </a:endParaRPr>
                    </a:p>
                  </a:txBody>
                  <a:tcPr marL="126997" marR="126997" marT="88898" marB="88898" anchor="ctr">
                    <a:lnL w="12700" cmpd="sng">
                      <a:solidFill>
                        <a:srgbClr val="F4F7FC"/>
                      </a:solidFill>
                      <a:prstDash val="solid"/>
                    </a:lnL>
                    <a:lnR w="12700" cmpd="sng">
                      <a:solidFill>
                        <a:srgbClr val="F4F7FC"/>
                      </a:solidFill>
                      <a:prstDash val="solid"/>
                    </a:lnR>
                    <a:lnT w="12700" cmpd="sng">
                      <a:solidFill>
                        <a:srgbClr val="1B4A9B"/>
                      </a:solidFill>
                      <a:prstDash val="solid"/>
                    </a:lnT>
                    <a:lnB w="12700" cmpd="sng">
                      <a:solidFill>
                        <a:srgbClr val="1B4A9B"/>
                      </a:solidFill>
                      <a:prstDash val="solid"/>
                    </a:lnB>
                    <a:solidFill>
                      <a:srgbClr val="F4F7FC"/>
                    </a:solidFill>
                  </a:tcPr>
                </a:tc>
                <a:tc>
                  <a:txBody>
                    <a:bodyPr/>
                    <a:lstStyle/>
                    <a:p>
                      <a:pPr marL="0" indent="0">
                        <a:buNone/>
                      </a:pPr>
                      <a:r>
                        <a:rPr sz="1350">
                          <a:solidFill>
                            <a:srgbClr val="1A1A1A"/>
                          </a:solidFill>
                          <a:latin typeface="Noto Sans SC"/>
                          <a:ea typeface="Noto Sans SC"/>
                          <a:cs typeface="Noto Sans SC"/>
                        </a:rPr>
                        <a:t>Vue 3 · TypeScript · Vite</a:t>
                      </a:r>
                      <a:endParaRPr sz="1350">
                        <a:latin typeface="Noto Sans SC"/>
                        <a:ea typeface="Noto Sans SC"/>
                        <a:cs typeface="Noto Sans SC"/>
                      </a:endParaRPr>
                    </a:p>
                  </a:txBody>
                  <a:tcPr marL="126997" marR="126997" marT="88898" marB="88898" anchor="ctr">
                    <a:lnL w="12700" cmpd="sng">
                      <a:solidFill>
                        <a:srgbClr val="F4F7FC"/>
                      </a:solidFill>
                      <a:prstDash val="solid"/>
                    </a:lnL>
                    <a:lnR w="12700" cmpd="sng">
                      <a:solidFill>
                        <a:srgbClr val="F4F7FC"/>
                      </a:solidFill>
                      <a:prstDash val="solid"/>
                    </a:lnR>
                    <a:lnT w="12700" cmpd="sng">
                      <a:solidFill>
                        <a:srgbClr val="1B4A9B"/>
                      </a:solidFill>
                      <a:prstDash val="solid"/>
                    </a:lnT>
                    <a:lnB w="12700" cmpd="sng">
                      <a:solidFill>
                        <a:srgbClr val="1B4A9B"/>
                      </a:solidFill>
                      <a:prstDash val="solid"/>
                    </a:lnB>
                    <a:solidFill>
                      <a:srgbClr val="F4F7FC"/>
                    </a:solidFill>
                  </a:tcPr>
                </a:tc>
              </a:tr>
              <a:tr h="432682">
                <a:tc>
                  <a:txBody>
                    <a:bodyPr/>
                    <a:lstStyle/>
                    <a:p>
                      <a:pPr marL="0" indent="0">
                        <a:buNone/>
                      </a:pPr>
                      <a:r>
                        <a:rPr sz="1350">
                          <a:solidFill>
                            <a:srgbClr val="1A1A1A"/>
                          </a:solidFill>
                          <a:latin typeface="Noto Sans SC"/>
                          <a:ea typeface="Noto Sans SC"/>
                          <a:cs typeface="Noto Sans SC"/>
                        </a:rPr>
                        <a:t>后端</a:t>
                      </a:r>
                      <a:endParaRPr sz="1350">
                        <a:latin typeface="Noto Sans SC"/>
                        <a:ea typeface="Noto Sans SC"/>
                        <a:cs typeface="Noto Sans SC"/>
                      </a:endParaRPr>
                    </a:p>
                  </a:txBody>
                  <a:tcPr marL="126997" marR="126997" marT="88898" marB="88898" anchor="ctr">
                    <a:lnL w="12700" cmpd="sng">
                      <a:solidFill>
                        <a:srgbClr val="FFFFFF"/>
                      </a:solidFill>
                      <a:prstDash val="solid"/>
                    </a:lnL>
                    <a:lnR w="12700" cmpd="sng">
                      <a:solidFill>
                        <a:srgbClr val="FFFFFF"/>
                      </a:solidFill>
                      <a:prstDash val="solid"/>
                    </a:lnR>
                    <a:lnT w="12700" cmpd="sng">
                      <a:solidFill>
                        <a:srgbClr val="1B4A9B"/>
                      </a:solidFill>
                      <a:prstDash val="solid"/>
                    </a:lnT>
                    <a:lnB w="12700" cmpd="sng">
                      <a:solidFill>
                        <a:srgbClr val="1B4A9B"/>
                      </a:solidFill>
                      <a:prstDash val="solid"/>
                    </a:lnB>
                  </a:tcPr>
                </a:tc>
                <a:tc>
                  <a:txBody>
                    <a:bodyPr/>
                    <a:lstStyle/>
                    <a:p>
                      <a:pPr marL="0" indent="0">
                        <a:buNone/>
                      </a:pPr>
                      <a:r>
                        <a:rPr sz="1350">
                          <a:solidFill>
                            <a:srgbClr val="1A1A1A"/>
                          </a:solidFill>
                          <a:latin typeface="Noto Sans SC"/>
                          <a:ea typeface="Noto Sans SC"/>
                          <a:cs typeface="Noto Sans SC"/>
                        </a:rPr>
                        <a:t>Python · FastAPI · LangChain · LangGraph</a:t>
                      </a:r>
                      <a:endParaRPr sz="1350">
                        <a:latin typeface="Noto Sans SC"/>
                        <a:ea typeface="Noto Sans SC"/>
                        <a:cs typeface="Noto Sans SC"/>
                      </a:endParaRPr>
                    </a:p>
                  </a:txBody>
                  <a:tcPr marL="126997" marR="126997" marT="88898" marB="88898" anchor="ctr">
                    <a:lnL w="12700" cmpd="sng">
                      <a:solidFill>
                        <a:srgbClr val="FFFFFF"/>
                      </a:solidFill>
                      <a:prstDash val="solid"/>
                    </a:lnL>
                    <a:lnR w="12700" cmpd="sng">
                      <a:solidFill>
                        <a:srgbClr val="FFFFFF"/>
                      </a:solidFill>
                      <a:prstDash val="solid"/>
                    </a:lnR>
                    <a:lnT w="12700" cmpd="sng">
                      <a:solidFill>
                        <a:srgbClr val="1B4A9B"/>
                      </a:solidFill>
                      <a:prstDash val="solid"/>
                    </a:lnT>
                    <a:lnB w="12700" cmpd="sng">
                      <a:solidFill>
                        <a:srgbClr val="1B4A9B"/>
                      </a:solidFill>
                      <a:prstDash val="solid"/>
                    </a:lnB>
                  </a:tcPr>
                </a:tc>
              </a:tr>
              <a:tr h="432682">
                <a:tc>
                  <a:txBody>
                    <a:bodyPr/>
                    <a:lstStyle/>
                    <a:p>
                      <a:pPr marL="0" indent="0">
                        <a:buNone/>
                      </a:pPr>
                      <a:r>
                        <a:rPr sz="1350">
                          <a:solidFill>
                            <a:srgbClr val="1A1A1A"/>
                          </a:solidFill>
                          <a:latin typeface="Noto Sans SC"/>
                          <a:ea typeface="Noto Sans SC"/>
                          <a:cs typeface="Noto Sans SC"/>
                        </a:rPr>
                        <a:t>语言模型</a:t>
                      </a:r>
                      <a:endParaRPr sz="1350">
                        <a:latin typeface="Noto Sans SC"/>
                        <a:ea typeface="Noto Sans SC"/>
                        <a:cs typeface="Noto Sans SC"/>
                      </a:endParaRPr>
                    </a:p>
                  </a:txBody>
                  <a:tcPr marL="126997" marR="126997" marT="88898" marB="88898" anchor="ctr">
                    <a:lnL w="12700" cmpd="sng">
                      <a:solidFill>
                        <a:srgbClr val="F4F7FC"/>
                      </a:solidFill>
                      <a:prstDash val="solid"/>
                    </a:lnL>
                    <a:lnR w="12700" cmpd="sng">
                      <a:solidFill>
                        <a:srgbClr val="F4F7FC"/>
                      </a:solidFill>
                      <a:prstDash val="solid"/>
                    </a:lnR>
                    <a:lnT w="12700" cmpd="sng">
                      <a:solidFill>
                        <a:srgbClr val="1B4A9B"/>
                      </a:solidFill>
                      <a:prstDash val="solid"/>
                    </a:lnT>
                    <a:lnB w="12700" cmpd="sng">
                      <a:solidFill>
                        <a:srgbClr val="1B4A9B"/>
                      </a:solidFill>
                      <a:prstDash val="solid"/>
                    </a:lnB>
                    <a:solidFill>
                      <a:srgbClr val="F4F7FC"/>
                    </a:solidFill>
                  </a:tcPr>
                </a:tc>
                <a:tc>
                  <a:txBody>
                    <a:bodyPr/>
                    <a:lstStyle/>
                    <a:p>
                      <a:pPr marL="0" indent="0">
                        <a:buNone/>
                      </a:pPr>
                      <a:r>
                        <a:rPr sz="1350">
                          <a:solidFill>
                            <a:srgbClr val="1A1A1A"/>
                          </a:solidFill>
                          <a:latin typeface="Noto Sans SC"/>
                          <a:ea typeface="Noto Sans SC"/>
                          <a:cs typeface="Noto Sans SC"/>
                        </a:rPr>
                        <a:t>兼容接口调用（deepseek-flash）</a:t>
                      </a:r>
                      <a:endParaRPr sz="1350">
                        <a:latin typeface="Noto Sans SC"/>
                        <a:ea typeface="Noto Sans SC"/>
                        <a:cs typeface="Noto Sans SC"/>
                      </a:endParaRPr>
                    </a:p>
                  </a:txBody>
                  <a:tcPr marL="126997" marR="126997" marT="88898" marB="88898" anchor="ctr">
                    <a:lnL w="12700" cmpd="sng">
                      <a:solidFill>
                        <a:srgbClr val="F4F7FC"/>
                      </a:solidFill>
                      <a:prstDash val="solid"/>
                    </a:lnL>
                    <a:lnR w="12700" cmpd="sng">
                      <a:solidFill>
                        <a:srgbClr val="F4F7FC"/>
                      </a:solidFill>
                      <a:prstDash val="solid"/>
                    </a:lnR>
                    <a:lnT w="12700" cmpd="sng">
                      <a:solidFill>
                        <a:srgbClr val="1B4A9B"/>
                      </a:solidFill>
                      <a:prstDash val="solid"/>
                    </a:lnT>
                    <a:lnB w="12700" cmpd="sng">
                      <a:solidFill>
                        <a:srgbClr val="1B4A9B"/>
                      </a:solidFill>
                      <a:prstDash val="solid"/>
                    </a:lnB>
                    <a:solidFill>
                      <a:srgbClr val="F4F7FC"/>
                    </a:solidFill>
                  </a:tcPr>
                </a:tc>
              </a:tr>
              <a:tr h="432682">
                <a:tc>
                  <a:txBody>
                    <a:bodyPr/>
                    <a:lstStyle/>
                    <a:p>
                      <a:pPr marL="0" indent="0">
                        <a:buNone/>
                      </a:pPr>
                      <a:r>
                        <a:rPr sz="1350">
                          <a:solidFill>
                            <a:srgbClr val="1A1A1A"/>
                          </a:solidFill>
                          <a:latin typeface="Noto Sans SC"/>
                          <a:ea typeface="Noto Sans SC"/>
                          <a:cs typeface="Noto Sans SC"/>
                        </a:rPr>
                        <a:t>数据存储</a:t>
                      </a:r>
                      <a:endParaRPr sz="1350">
                        <a:latin typeface="Noto Sans SC"/>
                        <a:ea typeface="Noto Sans SC"/>
                        <a:cs typeface="Noto Sans SC"/>
                      </a:endParaRPr>
                    </a:p>
                  </a:txBody>
                  <a:tcPr marL="126997" marR="126997" marT="88898" marB="88898" anchor="ctr">
                    <a:lnL w="12700" cmpd="sng">
                      <a:solidFill>
                        <a:srgbClr val="FFFFFF"/>
                      </a:solidFill>
                      <a:prstDash val="solid"/>
                    </a:lnL>
                    <a:lnR w="12700" cmpd="sng">
                      <a:solidFill>
                        <a:srgbClr val="FFFFFF"/>
                      </a:solidFill>
                      <a:prstDash val="solid"/>
                    </a:lnR>
                    <a:lnT w="12700" cmpd="sng">
                      <a:solidFill>
                        <a:srgbClr val="1B4A9B"/>
                      </a:solidFill>
                      <a:prstDash val="solid"/>
                    </a:lnT>
                    <a:lnB w="12700" cmpd="sng">
                      <a:solidFill>
                        <a:srgbClr val="1B4A9B"/>
                      </a:solidFill>
                      <a:prstDash val="solid"/>
                    </a:lnB>
                  </a:tcPr>
                </a:tc>
                <a:tc>
                  <a:txBody>
                    <a:bodyPr/>
                    <a:lstStyle/>
                    <a:p>
                      <a:pPr marL="0" indent="0">
                        <a:buNone/>
                      </a:pPr>
                      <a:r>
                        <a:rPr sz="1350">
                          <a:solidFill>
                            <a:srgbClr val="1A1A1A"/>
                          </a:solidFill>
                          <a:latin typeface="Noto Sans SC"/>
                          <a:ea typeface="Noto Sans SC"/>
                          <a:cs typeface="Noto Sans SC"/>
                        </a:rPr>
                        <a:t>MySQL（结构化数据） · Chroma（向量检索） · BM25（关键词检索）</a:t>
                      </a:r>
                      <a:endParaRPr sz="1350">
                        <a:latin typeface="Noto Sans SC"/>
                        <a:ea typeface="Noto Sans SC"/>
                        <a:cs typeface="Noto Sans SC"/>
                      </a:endParaRPr>
                    </a:p>
                  </a:txBody>
                  <a:tcPr marL="126997" marR="126997" marT="88898" marB="88898" anchor="ctr">
                    <a:lnL w="12700" cmpd="sng">
                      <a:solidFill>
                        <a:srgbClr val="FFFFFF"/>
                      </a:solidFill>
                      <a:prstDash val="solid"/>
                    </a:lnL>
                    <a:lnR w="12700" cmpd="sng">
                      <a:solidFill>
                        <a:srgbClr val="FFFFFF"/>
                      </a:solidFill>
                      <a:prstDash val="solid"/>
                    </a:lnR>
                    <a:lnT w="12700" cmpd="sng">
                      <a:solidFill>
                        <a:srgbClr val="1B4A9B"/>
                      </a:solidFill>
                      <a:prstDash val="solid"/>
                    </a:lnT>
                    <a:lnB w="12700" cmpd="sng">
                      <a:solidFill>
                        <a:srgbClr val="1B4A9B"/>
                      </a:solidFill>
                      <a:prstDash val="solid"/>
                    </a:lnB>
                  </a:tcPr>
                </a:tc>
              </a:tr>
              <a:tr h="426332">
                <a:tc>
                  <a:txBody>
                    <a:bodyPr/>
                    <a:lstStyle/>
                    <a:p>
                      <a:pPr marL="0" indent="0">
                        <a:buNone/>
                      </a:pPr>
                      <a:r>
                        <a:rPr sz="1350">
                          <a:solidFill>
                            <a:srgbClr val="1A1A1A"/>
                          </a:solidFill>
                          <a:latin typeface="Noto Sans SC"/>
                          <a:ea typeface="Noto Sans SC"/>
                          <a:cs typeface="Noto Sans SC"/>
                        </a:rPr>
                        <a:t>外部服务</a:t>
                      </a:r>
                      <a:endParaRPr sz="1350">
                        <a:latin typeface="Noto Sans SC"/>
                        <a:ea typeface="Noto Sans SC"/>
                        <a:cs typeface="Noto Sans SC"/>
                      </a:endParaRPr>
                    </a:p>
                  </a:txBody>
                  <a:tcPr marL="126997" marR="126997" marT="88898" marB="88898" anchor="ctr">
                    <a:lnL w="12700" cmpd="sng">
                      <a:solidFill>
                        <a:srgbClr val="F4F7FC"/>
                      </a:solidFill>
                      <a:prstDash val="solid"/>
                    </a:lnL>
                    <a:lnR w="12700" cmpd="sng">
                      <a:solidFill>
                        <a:srgbClr val="F4F7FC"/>
                      </a:solidFill>
                      <a:prstDash val="solid"/>
                    </a:lnR>
                    <a:lnT w="12700" cmpd="sng">
                      <a:solidFill>
                        <a:srgbClr val="1B4A9B"/>
                      </a:solidFill>
                      <a:prstDash val="solid"/>
                    </a:lnT>
                    <a:lnB w="12700" cmpd="sng">
                      <a:solidFill>
                        <a:srgbClr val="F4F7FC"/>
                      </a:solidFill>
                      <a:prstDash val="solid"/>
                    </a:lnB>
                    <a:solidFill>
                      <a:srgbClr val="F4F7FC"/>
                    </a:solidFill>
                  </a:tcPr>
                </a:tc>
                <a:tc>
                  <a:txBody>
                    <a:bodyPr/>
                    <a:lstStyle/>
                    <a:p>
                      <a:pPr marL="0" indent="0">
                        <a:buNone/>
                      </a:pPr>
                      <a:r>
                        <a:rPr sz="1350">
                          <a:solidFill>
                            <a:srgbClr val="1A1A1A"/>
                          </a:solidFill>
                          <a:latin typeface="Noto Sans SC"/>
                          <a:ea typeface="Noto Sans SC"/>
                          <a:cs typeface="Noto Sans SC"/>
                        </a:rPr>
                        <a:t>高德地图（路线/附近地点） · 和风天气</a:t>
                      </a:r>
                      <a:endParaRPr sz="1350">
                        <a:latin typeface="Noto Sans SC"/>
                        <a:ea typeface="Noto Sans SC"/>
                        <a:cs typeface="Noto Sans SC"/>
                      </a:endParaRPr>
                    </a:p>
                  </a:txBody>
                  <a:tcPr marL="126997" marR="126997" marT="88898" marB="88898" anchor="ctr">
                    <a:lnL w="12700" cmpd="sng">
                      <a:solidFill>
                        <a:srgbClr val="F4F7FC"/>
                      </a:solidFill>
                      <a:prstDash val="solid"/>
                    </a:lnL>
                    <a:lnR w="12700" cmpd="sng">
                      <a:solidFill>
                        <a:srgbClr val="F4F7FC"/>
                      </a:solidFill>
                      <a:prstDash val="solid"/>
                    </a:lnR>
                    <a:lnT w="12700" cmpd="sng">
                      <a:solidFill>
                        <a:srgbClr val="1B4A9B"/>
                      </a:solidFill>
                      <a:prstDash val="solid"/>
                    </a:lnT>
                    <a:lnB w="12700" cmpd="sng">
                      <a:solidFill>
                        <a:srgbClr val="F4F7FC"/>
                      </a:solidFill>
                      <a:prstDash val="solid"/>
                    </a:lnB>
                    <a:solidFill>
                      <a:srgbClr val="F4F7FC"/>
                    </a:solidFill>
                  </a:tcPr>
                </a:tc>
              </a:tr>
            </a:tbl>
          </a:graphicData>
        </a:graphic>
      </p:graphicFrame>
      <p:sp>
        <p:nvSpPr>
          <p:cNvPr id="4" name="Text 1">
            <a:extLst xmlns:a="http://schemas.openxmlformats.org/drawingml/2006/main">
              <a:ext uri="{FF2B5EF4-FFF2-40B4-BE49-F238E27FC236}">
                <a16:creationId xmlns:a16="http://schemas.microsoft.com/office/drawing/2014/main" id="{8641B646-5D0D-4193-82E0-839C20F0DEDA}"/>
              </a:ext>
            </a:extLst>
          </p:cNvPr>
          <p:cNvSpPr>
            <a:spLocks xmlns:a="http://schemas.openxmlformats.org/drawingml/2006/main" noGrp="1"/>
          </p:cNvSpPr>
          <p:nvPr/>
        </p:nvSpPr>
        <p:spPr>
          <a:xfrm xmlns:a="http://schemas.openxmlformats.org/drawingml/2006/main">
            <a:off x="558786" y="3895923"/>
            <a:ext cx="11632909" cy="24854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硬性边界由程序负责校验：省市归属、天数范围、景点存在性、选点顺序与时间窗口；外部数据缺失时显式标注降级，不补造虚假实时数值</a:t>
            </a:r>
            <a:endParaRPr sz="1350"/>
          </a:p>
        </p:txBody>
      </p:sp>
      <p:sp>
        <p:nvSpPr>
          <p:cNvPr id="5" name="Shape 2">
            <a:extLst xmlns:a="http://schemas.openxmlformats.org/drawingml/2006/main">
              <a:ext uri="{FF2B5EF4-FFF2-40B4-BE49-F238E27FC236}">
                <a16:creationId xmlns:a16="http://schemas.microsoft.com/office/drawing/2014/main" id="{6B2F4BB7-9537-4682-B881-3C93A0A9ED18}"/>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6" name="Text 3">
            <a:extLst xmlns:a="http://schemas.openxmlformats.org/drawingml/2006/main">
              <a:ext uri="{FF2B5EF4-FFF2-40B4-BE49-F238E27FC236}">
                <a16:creationId xmlns:a16="http://schemas.microsoft.com/office/drawing/2014/main" id="{9679A7D4-10DE-4854-8299-99B24577E3FF}"/>
              </a:ext>
            </a:extLst>
          </p:cNvPr>
          <p:cNvSpPr>
            <a:spLocks xmlns:a="http://schemas.openxmlformats.org/drawingml/2006/main" noGrp="1"/>
          </p:cNvSpPr>
          <p:nvPr/>
        </p:nvSpPr>
        <p:spPr>
          <a:xfrm xmlns:a="http://schemas.openxmlformats.org/drawingml/2006/main">
            <a:off x="11565839" y="6351389"/>
            <a:ext cx="625856"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8</a:t>
            </a:r>
            <a:endParaRPr sz="950"/>
          </a:p>
        </p:txBody>
      </p:sp>
    </p:spTree>
    <p:extLst>
      <p:ext uri="{BB962C8B-B14F-4D97-AF65-F5344CB8AC3E}">
        <p14:creationId xmlns:p14="http://schemas.microsoft.com/office/powerpoint/2010/main" val="19858522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E80F9F-F511-4DFA-9FA0-B38A685D0F64}"/>
              </a:ext>
            </a:extLst>
          </p:cNvPr>
          <p:cNvSpPr>
            <a:spLocks xmlns:a="http://schemas.openxmlformats.org/drawingml/2006/main" noGrp="1"/>
          </p:cNvSpPr>
          <p:nvPr/>
        </p:nvSpPr>
        <p:spPr>
          <a:xfrm xmlns:a="http://schemas.openxmlformats.org/drawingml/2006/main">
            <a:off x="558786" y="558800"/>
            <a:ext cx="11074123" cy="34131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3000"/>
              </a:lnSpc>
              <a:buNone/>
            </a:pPr>
            <a:r>
              <a:rPr sz="2400" b="1">
                <a:solidFill>
                  <a:srgbClr val="1B4A9B"/>
                </a:solidFill>
                <a:latin typeface="Noto Sans SC Bold"/>
                <a:ea typeface="Noto Sans SC Bold"/>
                <a:cs typeface="Noto Sans SC Bold"/>
              </a:rPr>
              <a:t>预期进度：十四周研发与答辩计划</a:t>
            </a:r>
            <a:endParaRPr sz="2400"/>
          </a:p>
        </p:txBody>
      </p:sp>
      <p:sp>
        <p:nvSpPr>
          <p:cNvPr id="3" name="Shape 1">
            <a:extLst xmlns:a="http://schemas.openxmlformats.org/drawingml/2006/main">
              <a:ext uri="{FF2B5EF4-FFF2-40B4-BE49-F238E27FC236}">
                <a16:creationId xmlns:a16="http://schemas.microsoft.com/office/drawing/2014/main" id="{52F84383-D0E3-4428-83B9-C6ED784782CF}"/>
              </a:ext>
            </a:extLst>
          </p:cNvPr>
          <p:cNvSpPr>
            <a:spLocks xmlns:a="http://schemas.openxmlformats.org/drawingml/2006/main" noGrp="1"/>
          </p:cNvSpPr>
          <p:nvPr/>
        </p:nvSpPr>
        <p:spPr>
          <a:xfrm xmlns:a="http://schemas.openxmlformats.org/drawingml/2006/main">
            <a:off x="558786" y="1162050"/>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4" name="Text 2">
            <a:extLst xmlns:a="http://schemas.openxmlformats.org/drawingml/2006/main">
              <a:ext uri="{FF2B5EF4-FFF2-40B4-BE49-F238E27FC236}">
                <a16:creationId xmlns:a16="http://schemas.microsoft.com/office/drawing/2014/main" id="{8626746F-EED9-4BFC-A06B-03BE3077D2F7}"/>
              </a:ext>
            </a:extLst>
          </p:cNvPr>
          <p:cNvSpPr>
            <a:spLocks xmlns:a="http://schemas.openxmlformats.org/drawingml/2006/main" noGrp="1"/>
          </p:cNvSpPr>
          <p:nvPr/>
        </p:nvSpPr>
        <p:spPr>
          <a:xfrm xmlns:a="http://schemas.openxmlformats.org/drawingml/2006/main">
            <a:off x="636770" y="1212056"/>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1</a:t>
            </a:r>
            <a:endParaRPr sz="1050"/>
          </a:p>
        </p:txBody>
      </p:sp>
      <p:sp>
        <p:nvSpPr>
          <p:cNvPr id="5" name="Text 3">
            <a:extLst xmlns:a="http://schemas.openxmlformats.org/drawingml/2006/main">
              <a:ext uri="{FF2B5EF4-FFF2-40B4-BE49-F238E27FC236}">
                <a16:creationId xmlns:a16="http://schemas.microsoft.com/office/drawing/2014/main" id="{F16A6794-0A38-463C-AA1C-AE7F25D510BD}"/>
              </a:ext>
            </a:extLst>
          </p:cNvPr>
          <p:cNvSpPr>
            <a:spLocks xmlns:a="http://schemas.openxmlformats.org/drawingml/2006/main" noGrp="1"/>
          </p:cNvSpPr>
          <p:nvPr/>
        </p:nvSpPr>
        <p:spPr>
          <a:xfrm xmlns:a="http://schemas.openxmlformats.org/drawingml/2006/main">
            <a:off x="919140" y="1116806"/>
            <a:ext cx="5921723"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b="1">
                <a:solidFill>
                  <a:srgbClr val="1A1A1A"/>
                </a:solidFill>
                <a:latin typeface="Noto Sans SC Bold"/>
                <a:ea typeface="Noto Sans SC Bold"/>
                <a:cs typeface="Noto Sans SC Bold"/>
              </a:rPr>
              <a:t>第 1–2 周</a:t>
            </a:r>
            <a:r>
              <a:rPr sz="1500">
                <a:solidFill>
                  <a:srgbClr val="1A1A1A"/>
                </a:solidFill>
                <a:latin typeface="Noto Sans SC"/>
                <a:ea typeface="Noto Sans SC"/>
                <a:cs typeface="Noto Sans SC"/>
              </a:rPr>
              <a:t>：整理原型与开题材料，完成需求分析与技术路线细化</a:t>
            </a:r>
            <a:endParaRPr sz="1500"/>
          </a:p>
        </p:txBody>
      </p:sp>
      <p:sp>
        <p:nvSpPr>
          <p:cNvPr id="6" name="Shape 4">
            <a:extLst xmlns:a="http://schemas.openxmlformats.org/drawingml/2006/main">
              <a:ext uri="{FF2B5EF4-FFF2-40B4-BE49-F238E27FC236}">
                <a16:creationId xmlns:a16="http://schemas.microsoft.com/office/drawing/2014/main" id="{34EADC55-E045-43A1-BF16-787A2200D462}"/>
              </a:ext>
            </a:extLst>
          </p:cNvPr>
          <p:cNvSpPr>
            <a:spLocks xmlns:a="http://schemas.openxmlformats.org/drawingml/2006/main" noGrp="1"/>
          </p:cNvSpPr>
          <p:nvPr/>
        </p:nvSpPr>
        <p:spPr>
          <a:xfrm xmlns:a="http://schemas.openxmlformats.org/drawingml/2006/main">
            <a:off x="558786" y="1535212"/>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7" name="Text 5">
            <a:extLst xmlns:a="http://schemas.openxmlformats.org/drawingml/2006/main">
              <a:ext uri="{FF2B5EF4-FFF2-40B4-BE49-F238E27FC236}">
                <a16:creationId xmlns:a16="http://schemas.microsoft.com/office/drawing/2014/main" id="{6AE5829E-DB34-4207-B75B-0E82630B7B28}"/>
              </a:ext>
            </a:extLst>
          </p:cNvPr>
          <p:cNvSpPr>
            <a:spLocks xmlns:a="http://schemas.openxmlformats.org/drawingml/2006/main" noGrp="1"/>
          </p:cNvSpPr>
          <p:nvPr/>
        </p:nvSpPr>
        <p:spPr>
          <a:xfrm xmlns:a="http://schemas.openxmlformats.org/drawingml/2006/main">
            <a:off x="636770" y="1585218"/>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2</a:t>
            </a:r>
            <a:endParaRPr sz="1050"/>
          </a:p>
        </p:txBody>
      </p:sp>
      <p:sp>
        <p:nvSpPr>
          <p:cNvPr id="8" name="Text 6">
            <a:extLst xmlns:a="http://schemas.openxmlformats.org/drawingml/2006/main">
              <a:ext uri="{FF2B5EF4-FFF2-40B4-BE49-F238E27FC236}">
                <a16:creationId xmlns:a16="http://schemas.microsoft.com/office/drawing/2014/main" id="{EE51DC37-02AE-40E7-AE06-1160E2B219B8}"/>
              </a:ext>
            </a:extLst>
          </p:cNvPr>
          <p:cNvSpPr>
            <a:spLocks xmlns:a="http://schemas.openxmlformats.org/drawingml/2006/main" noGrp="1"/>
          </p:cNvSpPr>
          <p:nvPr/>
        </p:nvSpPr>
        <p:spPr>
          <a:xfrm xmlns:a="http://schemas.openxmlformats.org/drawingml/2006/main">
            <a:off x="919140" y="1489968"/>
            <a:ext cx="5921723"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b="1">
                <a:solidFill>
                  <a:srgbClr val="1A1A1A"/>
                </a:solidFill>
                <a:latin typeface="Noto Sans SC Bold"/>
                <a:ea typeface="Noto Sans SC Bold"/>
                <a:cs typeface="Noto Sans SC Bold"/>
              </a:rPr>
              <a:t>第 3–4 周</a:t>
            </a:r>
            <a:r>
              <a:rPr sz="1500">
                <a:solidFill>
                  <a:srgbClr val="1A1A1A"/>
                </a:solidFill>
                <a:latin typeface="Noto Sans SC"/>
                <a:ea typeface="Noto Sans SC"/>
                <a:cs typeface="Noto Sans SC"/>
              </a:rPr>
              <a:t>：清洗景点基础数据库，构建指南向量库及典型测试案例集</a:t>
            </a:r>
            <a:endParaRPr sz="1500"/>
          </a:p>
        </p:txBody>
      </p:sp>
      <p:sp>
        <p:nvSpPr>
          <p:cNvPr id="9" name="Shape 7">
            <a:extLst xmlns:a="http://schemas.openxmlformats.org/drawingml/2006/main">
              <a:ext uri="{FF2B5EF4-FFF2-40B4-BE49-F238E27FC236}">
                <a16:creationId xmlns:a16="http://schemas.microsoft.com/office/drawing/2014/main" id="{05465833-FC43-408B-8352-A0E567BA3A4C}"/>
              </a:ext>
            </a:extLst>
          </p:cNvPr>
          <p:cNvSpPr>
            <a:spLocks xmlns:a="http://schemas.openxmlformats.org/drawingml/2006/main" noGrp="1"/>
          </p:cNvSpPr>
          <p:nvPr/>
        </p:nvSpPr>
        <p:spPr>
          <a:xfrm xmlns:a="http://schemas.openxmlformats.org/drawingml/2006/main">
            <a:off x="558786" y="1907183"/>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0" name="Text 8">
            <a:extLst xmlns:a="http://schemas.openxmlformats.org/drawingml/2006/main">
              <a:ext uri="{FF2B5EF4-FFF2-40B4-BE49-F238E27FC236}">
                <a16:creationId xmlns:a16="http://schemas.microsoft.com/office/drawing/2014/main" id="{2590E578-9C23-49A0-A1D3-EC22E1C5F4FE}"/>
              </a:ext>
            </a:extLst>
          </p:cNvPr>
          <p:cNvSpPr>
            <a:spLocks xmlns:a="http://schemas.openxmlformats.org/drawingml/2006/main" noGrp="1"/>
          </p:cNvSpPr>
          <p:nvPr/>
        </p:nvSpPr>
        <p:spPr>
          <a:xfrm xmlns:a="http://schemas.openxmlformats.org/drawingml/2006/main">
            <a:off x="636770" y="1957189"/>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3</a:t>
            </a:r>
            <a:endParaRPr sz="1050"/>
          </a:p>
        </p:txBody>
      </p:sp>
      <p:sp>
        <p:nvSpPr>
          <p:cNvPr id="11" name="Text 9">
            <a:extLst xmlns:a="http://schemas.openxmlformats.org/drawingml/2006/main">
              <a:ext uri="{FF2B5EF4-FFF2-40B4-BE49-F238E27FC236}">
                <a16:creationId xmlns:a16="http://schemas.microsoft.com/office/drawing/2014/main" id="{E007187A-9D33-468D-B39E-E0B493861846}"/>
              </a:ext>
            </a:extLst>
          </p:cNvPr>
          <p:cNvSpPr>
            <a:spLocks xmlns:a="http://schemas.openxmlformats.org/drawingml/2006/main" noGrp="1"/>
          </p:cNvSpPr>
          <p:nvPr/>
        </p:nvSpPr>
        <p:spPr>
          <a:xfrm xmlns:a="http://schemas.openxmlformats.org/drawingml/2006/main">
            <a:off x="919140" y="1861939"/>
            <a:ext cx="5921723" cy="552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b="1">
                <a:solidFill>
                  <a:srgbClr val="1A1A1A"/>
                </a:solidFill>
                <a:latin typeface="Noto Sans SC Bold"/>
                <a:ea typeface="Noto Sans SC Bold"/>
                <a:cs typeface="Noto Sans SC Bold"/>
              </a:rPr>
              <a:t>第 5–6 周</a:t>
            </a:r>
            <a:r>
              <a:rPr sz="1500">
                <a:solidFill>
                  <a:srgbClr val="1A1A1A"/>
                </a:solidFill>
                <a:latin typeface="Noto Sans SC"/>
                <a:ea typeface="Noto Sans SC"/>
                <a:cs typeface="Noto Sans SC"/>
              </a:rPr>
              <a:t>：实现 LangGraph 规划子图状态机、高德路网计算与异常回退</a:t>
            </a:r>
            <a:endParaRPr sz="1500"/>
          </a:p>
        </p:txBody>
      </p:sp>
      <p:sp>
        <p:nvSpPr>
          <p:cNvPr id="12" name="Shape 10">
            <a:extLst xmlns:a="http://schemas.openxmlformats.org/drawingml/2006/main">
              <a:ext uri="{FF2B5EF4-FFF2-40B4-BE49-F238E27FC236}">
                <a16:creationId xmlns:a16="http://schemas.microsoft.com/office/drawing/2014/main" id="{DF0CC32D-A725-49A3-B00F-487A180AC1C7}"/>
              </a:ext>
            </a:extLst>
          </p:cNvPr>
          <p:cNvSpPr>
            <a:spLocks xmlns:a="http://schemas.openxmlformats.org/drawingml/2006/main" noGrp="1"/>
          </p:cNvSpPr>
          <p:nvPr/>
        </p:nvSpPr>
        <p:spPr>
          <a:xfrm xmlns:a="http://schemas.openxmlformats.org/drawingml/2006/main">
            <a:off x="558786" y="2555379"/>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3" name="Text 11">
            <a:extLst xmlns:a="http://schemas.openxmlformats.org/drawingml/2006/main">
              <a:ext uri="{FF2B5EF4-FFF2-40B4-BE49-F238E27FC236}">
                <a16:creationId xmlns:a16="http://schemas.microsoft.com/office/drawing/2014/main" id="{E4DF8FD3-D619-42CB-9CAC-DC0B176CFEE1}"/>
              </a:ext>
            </a:extLst>
          </p:cNvPr>
          <p:cNvSpPr>
            <a:spLocks xmlns:a="http://schemas.openxmlformats.org/drawingml/2006/main" noGrp="1"/>
          </p:cNvSpPr>
          <p:nvPr/>
        </p:nvSpPr>
        <p:spPr>
          <a:xfrm xmlns:a="http://schemas.openxmlformats.org/drawingml/2006/main">
            <a:off x="636770" y="2605385"/>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4</a:t>
            </a:r>
            <a:endParaRPr sz="1050"/>
          </a:p>
        </p:txBody>
      </p:sp>
      <p:sp>
        <p:nvSpPr>
          <p:cNvPr id="14" name="Text 12">
            <a:extLst xmlns:a="http://schemas.openxmlformats.org/drawingml/2006/main">
              <a:ext uri="{FF2B5EF4-FFF2-40B4-BE49-F238E27FC236}">
                <a16:creationId xmlns:a16="http://schemas.microsoft.com/office/drawing/2014/main" id="{6D1D35D0-8A37-4FD2-ACFD-ADA74F31F110}"/>
              </a:ext>
            </a:extLst>
          </p:cNvPr>
          <p:cNvSpPr>
            <a:spLocks xmlns:a="http://schemas.openxmlformats.org/drawingml/2006/main" noGrp="1"/>
          </p:cNvSpPr>
          <p:nvPr/>
        </p:nvSpPr>
        <p:spPr>
          <a:xfrm xmlns:a="http://schemas.openxmlformats.org/drawingml/2006/main">
            <a:off x="919140" y="2510135"/>
            <a:ext cx="5921723"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b="1">
                <a:solidFill>
                  <a:srgbClr val="1A1A1A"/>
                </a:solidFill>
                <a:latin typeface="Noto Sans SC Bold"/>
                <a:ea typeface="Noto Sans SC Bold"/>
                <a:cs typeface="Noto Sans SC Bold"/>
              </a:rPr>
              <a:t>第 7–9 周</a:t>
            </a:r>
            <a:r>
              <a:rPr sz="1500">
                <a:solidFill>
                  <a:srgbClr val="1A1A1A"/>
                </a:solidFill>
                <a:latin typeface="Noto Sans SC"/>
                <a:ea typeface="Noto Sans SC"/>
                <a:cs typeface="Noto Sans SC"/>
              </a:rPr>
              <a:t>：完成混合检索与动态排程算法，执行全面消融与对比实验</a:t>
            </a:r>
            <a:endParaRPr sz="1500"/>
          </a:p>
        </p:txBody>
      </p:sp>
      <p:sp>
        <p:nvSpPr>
          <p:cNvPr id="15" name="Shape 13">
            <a:extLst xmlns:a="http://schemas.openxmlformats.org/drawingml/2006/main">
              <a:ext uri="{FF2B5EF4-FFF2-40B4-BE49-F238E27FC236}">
                <a16:creationId xmlns:a16="http://schemas.microsoft.com/office/drawing/2014/main" id="{8C4F8788-5B34-4DE0-B96E-576E1D6B41D2}"/>
              </a:ext>
            </a:extLst>
          </p:cNvPr>
          <p:cNvSpPr>
            <a:spLocks xmlns:a="http://schemas.openxmlformats.org/drawingml/2006/main" noGrp="1"/>
          </p:cNvSpPr>
          <p:nvPr/>
        </p:nvSpPr>
        <p:spPr>
          <a:xfrm xmlns:a="http://schemas.openxmlformats.org/drawingml/2006/main">
            <a:off x="558786" y="2927350"/>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6" name="Text 14">
            <a:extLst xmlns:a="http://schemas.openxmlformats.org/drawingml/2006/main">
              <a:ext uri="{FF2B5EF4-FFF2-40B4-BE49-F238E27FC236}">
                <a16:creationId xmlns:a16="http://schemas.microsoft.com/office/drawing/2014/main" id="{3E0BE02A-ABD7-4814-AF04-0A23A41E5F93}"/>
              </a:ext>
            </a:extLst>
          </p:cNvPr>
          <p:cNvSpPr>
            <a:spLocks xmlns:a="http://schemas.openxmlformats.org/drawingml/2006/main" noGrp="1"/>
          </p:cNvSpPr>
          <p:nvPr/>
        </p:nvSpPr>
        <p:spPr>
          <a:xfrm xmlns:a="http://schemas.openxmlformats.org/drawingml/2006/main">
            <a:off x="636770" y="2977356"/>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5</a:t>
            </a:r>
            <a:endParaRPr sz="1050"/>
          </a:p>
        </p:txBody>
      </p:sp>
      <p:sp>
        <p:nvSpPr>
          <p:cNvPr id="17" name="Text 15">
            <a:extLst xmlns:a="http://schemas.openxmlformats.org/drawingml/2006/main">
              <a:ext uri="{FF2B5EF4-FFF2-40B4-BE49-F238E27FC236}">
                <a16:creationId xmlns:a16="http://schemas.microsoft.com/office/drawing/2014/main" id="{E8FE89FC-E39A-4160-A8F3-8888D0773B6B}"/>
              </a:ext>
            </a:extLst>
          </p:cNvPr>
          <p:cNvSpPr>
            <a:spLocks xmlns:a="http://schemas.openxmlformats.org/drawingml/2006/main" noGrp="1"/>
          </p:cNvSpPr>
          <p:nvPr/>
        </p:nvSpPr>
        <p:spPr>
          <a:xfrm xmlns:a="http://schemas.openxmlformats.org/drawingml/2006/main">
            <a:off x="919140" y="2882106"/>
            <a:ext cx="5921723" cy="552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b="1">
                <a:solidFill>
                  <a:srgbClr val="1A1A1A"/>
                </a:solidFill>
                <a:latin typeface="Noto Sans SC Bold"/>
                <a:ea typeface="Noto Sans SC Bold"/>
                <a:cs typeface="Noto Sans SC Bold"/>
              </a:rPr>
              <a:t>第 10–11 周</a:t>
            </a:r>
            <a:r>
              <a:rPr sz="1500">
                <a:solidFill>
                  <a:srgbClr val="1A1A1A"/>
                </a:solidFill>
                <a:latin typeface="Noto Sans SC"/>
                <a:ea typeface="Noto Sans SC"/>
                <a:cs typeface="Noto Sans SC"/>
              </a:rPr>
              <a:t>：完成 Vue 3 前端对接联调，进行系统性能调优与可用性验证</a:t>
            </a:r>
            <a:endParaRPr sz="1500"/>
          </a:p>
        </p:txBody>
      </p:sp>
      <p:sp>
        <p:nvSpPr>
          <p:cNvPr id="18" name="Shape 16">
            <a:extLst xmlns:a="http://schemas.openxmlformats.org/drawingml/2006/main">
              <a:ext uri="{FF2B5EF4-FFF2-40B4-BE49-F238E27FC236}">
                <a16:creationId xmlns:a16="http://schemas.microsoft.com/office/drawing/2014/main" id="{83A82B36-299D-4E3E-8B29-815FC3F959BD}"/>
              </a:ext>
            </a:extLst>
          </p:cNvPr>
          <p:cNvSpPr>
            <a:spLocks xmlns:a="http://schemas.openxmlformats.org/drawingml/2006/main" noGrp="1"/>
          </p:cNvSpPr>
          <p:nvPr/>
        </p:nvSpPr>
        <p:spPr>
          <a:xfrm xmlns:a="http://schemas.openxmlformats.org/drawingml/2006/main">
            <a:off x="558786" y="3574355"/>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19" name="Text 17">
            <a:extLst xmlns:a="http://schemas.openxmlformats.org/drawingml/2006/main">
              <a:ext uri="{FF2B5EF4-FFF2-40B4-BE49-F238E27FC236}">
                <a16:creationId xmlns:a16="http://schemas.microsoft.com/office/drawing/2014/main" id="{719046B3-1338-4030-8A07-0F61CC6DDB25}"/>
              </a:ext>
            </a:extLst>
          </p:cNvPr>
          <p:cNvSpPr>
            <a:spLocks xmlns:a="http://schemas.openxmlformats.org/drawingml/2006/main" noGrp="1"/>
          </p:cNvSpPr>
          <p:nvPr/>
        </p:nvSpPr>
        <p:spPr>
          <a:xfrm xmlns:a="http://schemas.openxmlformats.org/drawingml/2006/main">
            <a:off x="636770" y="3624362"/>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6</a:t>
            </a:r>
            <a:endParaRPr sz="1050"/>
          </a:p>
        </p:txBody>
      </p:sp>
      <p:sp>
        <p:nvSpPr>
          <p:cNvPr id="20" name="Text 18">
            <a:extLst xmlns:a="http://schemas.openxmlformats.org/drawingml/2006/main">
              <a:ext uri="{FF2B5EF4-FFF2-40B4-BE49-F238E27FC236}">
                <a16:creationId xmlns:a16="http://schemas.microsoft.com/office/drawing/2014/main" id="{82F6E70A-2D31-4DA9-958B-05350D61A13D}"/>
              </a:ext>
            </a:extLst>
          </p:cNvPr>
          <p:cNvSpPr>
            <a:spLocks xmlns:a="http://schemas.openxmlformats.org/drawingml/2006/main" noGrp="1"/>
          </p:cNvSpPr>
          <p:nvPr/>
        </p:nvSpPr>
        <p:spPr>
          <a:xfrm xmlns:a="http://schemas.openxmlformats.org/drawingml/2006/main">
            <a:off x="919140" y="3529112"/>
            <a:ext cx="5921723" cy="552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b="1">
                <a:solidFill>
                  <a:srgbClr val="1A1A1A"/>
                </a:solidFill>
                <a:latin typeface="Noto Sans SC Bold"/>
                <a:ea typeface="Noto Sans SC Bold"/>
                <a:cs typeface="Noto Sans SC Bold"/>
              </a:rPr>
              <a:t>第 12–13 周</a:t>
            </a:r>
            <a:r>
              <a:rPr sz="1500">
                <a:solidFill>
                  <a:srgbClr val="1A1A1A"/>
                </a:solidFill>
                <a:latin typeface="Noto Sans SC"/>
                <a:ea typeface="Noto Sans SC"/>
                <a:cs typeface="Noto Sans SC"/>
              </a:rPr>
              <a:t>：撰写毕业设计论文初稿，配合指导教师意见多轮迭代修改</a:t>
            </a:r>
            <a:endParaRPr sz="1500"/>
          </a:p>
        </p:txBody>
      </p:sp>
      <p:sp>
        <p:nvSpPr>
          <p:cNvPr id="21" name="Shape 19">
            <a:extLst xmlns:a="http://schemas.openxmlformats.org/drawingml/2006/main">
              <a:ext uri="{FF2B5EF4-FFF2-40B4-BE49-F238E27FC236}">
                <a16:creationId xmlns:a16="http://schemas.microsoft.com/office/drawing/2014/main" id="{5B0005E0-716A-46E8-B3D7-CE1918389B26}"/>
              </a:ext>
            </a:extLst>
          </p:cNvPr>
          <p:cNvSpPr>
            <a:spLocks xmlns:a="http://schemas.openxmlformats.org/drawingml/2006/main" noGrp="1"/>
          </p:cNvSpPr>
          <p:nvPr/>
        </p:nvSpPr>
        <p:spPr>
          <a:xfrm xmlns:a="http://schemas.openxmlformats.org/drawingml/2006/main">
            <a:off x="558786" y="4222651"/>
            <a:ext cx="233357" cy="233362"/>
          </a:xfrm>
          <a:prstGeom xmlns:a="http://schemas.openxmlformats.org/drawingml/2006/main" prst="ellipse">
            <a:avLst/>
          </a:prstGeom>
          <a:solidFill xmlns:a="http://schemas.openxmlformats.org/drawingml/2006/main">
            <a:srgbClr val="1B4A9B"/>
          </a:solidFill>
          <a:ln xmlns:a="http://schemas.openxmlformats.org/drawingml/2006/main" w="6350">
            <a:solidFill>
              <a:srgbClr val="D8D4D4"/>
            </a:solidFill>
            <a:prstDash val="solid"/>
          </a:ln>
        </p:spPr>
      </p:sp>
      <p:sp>
        <p:nvSpPr>
          <p:cNvPr id="22" name="Text 20">
            <a:extLst xmlns:a="http://schemas.openxmlformats.org/drawingml/2006/main">
              <a:ext uri="{FF2B5EF4-FFF2-40B4-BE49-F238E27FC236}">
                <a16:creationId xmlns:a16="http://schemas.microsoft.com/office/drawing/2014/main" id="{998D04B1-6E3B-4AB8-8F0A-0AB46A980D1F}"/>
              </a:ext>
            </a:extLst>
          </p:cNvPr>
          <p:cNvSpPr>
            <a:spLocks xmlns:a="http://schemas.openxmlformats.org/drawingml/2006/main" noGrp="1"/>
          </p:cNvSpPr>
          <p:nvPr/>
        </p:nvSpPr>
        <p:spPr>
          <a:xfrm xmlns:a="http://schemas.openxmlformats.org/drawingml/2006/main">
            <a:off x="636770" y="4272657"/>
            <a:ext cx="686973" cy="1333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050">
                <a:solidFill>
                  <a:srgbClr val="FFFFFF"/>
                </a:solidFill>
                <a:latin typeface="Noto Sans SC SemiBold"/>
                <a:ea typeface="Noto Sans SC SemiBold"/>
                <a:cs typeface="Noto Sans SC SemiBold"/>
              </a:rPr>
              <a:t>7</a:t>
            </a:r>
            <a:endParaRPr sz="1050"/>
          </a:p>
        </p:txBody>
      </p:sp>
      <p:sp>
        <p:nvSpPr>
          <p:cNvPr id="23" name="Text 21">
            <a:extLst xmlns:a="http://schemas.openxmlformats.org/drawingml/2006/main">
              <a:ext uri="{FF2B5EF4-FFF2-40B4-BE49-F238E27FC236}">
                <a16:creationId xmlns:a16="http://schemas.microsoft.com/office/drawing/2014/main" id="{C6FA7B9D-F221-4085-A968-3D3F047B3A7D}"/>
              </a:ext>
            </a:extLst>
          </p:cNvPr>
          <p:cNvSpPr>
            <a:spLocks xmlns:a="http://schemas.openxmlformats.org/drawingml/2006/main" noGrp="1"/>
          </p:cNvSpPr>
          <p:nvPr/>
        </p:nvSpPr>
        <p:spPr>
          <a:xfrm xmlns:a="http://schemas.openxmlformats.org/drawingml/2006/main">
            <a:off x="919140" y="4177407"/>
            <a:ext cx="5921723"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b="1">
                <a:solidFill>
                  <a:srgbClr val="1A1A1A"/>
                </a:solidFill>
                <a:latin typeface="Noto Sans SC Bold"/>
                <a:ea typeface="Noto Sans SC Bold"/>
                <a:cs typeface="Noto Sans SC Bold"/>
              </a:rPr>
              <a:t>第 14 周</a:t>
            </a:r>
            <a:r>
              <a:rPr sz="1500">
                <a:solidFill>
                  <a:srgbClr val="1A1A1A"/>
                </a:solidFill>
                <a:latin typeface="Noto Sans SC"/>
                <a:ea typeface="Noto Sans SC"/>
                <a:cs typeface="Noto Sans SC"/>
              </a:rPr>
              <a:t>：完成论文终稿定稿、代码库整理归档，准备毕业答辩演示</a:t>
            </a:r>
            <a:endParaRPr sz="1500"/>
          </a:p>
        </p:txBody>
      </p:sp>
      <p:sp>
        <p:nvSpPr>
          <p:cNvPr id="24" name="Shape 22">
            <a:extLst xmlns:a="http://schemas.openxmlformats.org/drawingml/2006/main">
              <a:ext uri="{FF2B5EF4-FFF2-40B4-BE49-F238E27FC236}">
                <a16:creationId xmlns:a16="http://schemas.microsoft.com/office/drawing/2014/main" id="{66A128B3-849C-4E0C-8AA5-5B42B488241E}"/>
              </a:ext>
            </a:extLst>
          </p:cNvPr>
          <p:cNvSpPr>
            <a:spLocks xmlns:a="http://schemas.openxmlformats.org/drawingml/2006/main" noGrp="1"/>
          </p:cNvSpPr>
          <p:nvPr/>
        </p:nvSpPr>
        <p:spPr>
          <a:xfrm xmlns:a="http://schemas.openxmlformats.org/drawingml/2006/main">
            <a:off x="7145655" y="1068388"/>
            <a:ext cx="4487254" cy="3433763"/>
          </a:xfrm>
          <a:prstGeom xmlns:a="http://schemas.openxmlformats.org/drawingml/2006/main" prst="rect">
            <a:avLst/>
          </a:prstGeom>
          <a:noFill xmlns:a="http://schemas.openxmlformats.org/drawingml/2006/main"/>
          <a:ln xmlns:a="http://schemas.openxmlformats.org/drawingml/2006/main" w="6350">
            <a:solidFill>
              <a:srgbClr val="1B4A9B"/>
            </a:solidFill>
            <a:prstDash val="solid"/>
          </a:ln>
        </p:spPr>
      </p:sp>
      <p:sp>
        <p:nvSpPr>
          <p:cNvPr id="25" name="Text 23">
            <a:extLst xmlns:a="http://schemas.openxmlformats.org/drawingml/2006/main">
              <a:ext uri="{FF2B5EF4-FFF2-40B4-BE49-F238E27FC236}">
                <a16:creationId xmlns:a16="http://schemas.microsoft.com/office/drawing/2014/main" id="{BA9A2D9C-52A1-4E30-AD6C-A73D5BF1B414}"/>
              </a:ext>
            </a:extLst>
          </p:cNvPr>
          <p:cNvSpPr>
            <a:spLocks xmlns:a="http://schemas.openxmlformats.org/drawingml/2006/main" noGrp="1"/>
          </p:cNvSpPr>
          <p:nvPr/>
        </p:nvSpPr>
        <p:spPr>
          <a:xfrm xmlns:a="http://schemas.openxmlformats.org/drawingml/2006/main">
            <a:off x="7304401" y="1227138"/>
            <a:ext cx="4328508" cy="2063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spc="13">
                <a:solidFill>
                  <a:srgbClr val="1B4A9B"/>
                </a:solidFill>
                <a:latin typeface="Noto Sans SC SemiBold"/>
                <a:ea typeface="Noto Sans SC SemiBold"/>
                <a:cs typeface="Noto Sans SC SemiBold"/>
              </a:rPr>
              <a:t>阶段控制节点</a:t>
            </a:r>
            <a:endParaRPr sz="1300"/>
          </a:p>
        </p:txBody>
      </p:sp>
      <p:sp>
        <p:nvSpPr>
          <p:cNvPr id="26" name="Text 24">
            <a:extLst xmlns:a="http://schemas.openxmlformats.org/drawingml/2006/main">
              <a:ext uri="{FF2B5EF4-FFF2-40B4-BE49-F238E27FC236}">
                <a16:creationId xmlns:a16="http://schemas.microsoft.com/office/drawing/2014/main" id="{2A9B3549-F3D5-4EC0-8B6E-15B4C11243ED}"/>
              </a:ext>
            </a:extLst>
          </p:cNvPr>
          <p:cNvSpPr>
            <a:spLocks xmlns:a="http://schemas.openxmlformats.org/drawingml/2006/main" noGrp="1"/>
          </p:cNvSpPr>
          <p:nvPr/>
        </p:nvSpPr>
        <p:spPr>
          <a:xfrm xmlns:a="http://schemas.openxmlformats.org/drawingml/2006/main">
            <a:off x="7304401" y="1503363"/>
            <a:ext cx="416976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Milestone 1</a:t>
            </a:r>
            <a:endParaRPr sz="1650"/>
          </a:p>
        </p:txBody>
      </p:sp>
      <p:sp>
        <p:nvSpPr>
          <p:cNvPr id="27" name="Text 25">
            <a:extLst xmlns:a="http://schemas.openxmlformats.org/drawingml/2006/main">
              <a:ext uri="{FF2B5EF4-FFF2-40B4-BE49-F238E27FC236}">
                <a16:creationId xmlns:a16="http://schemas.microsoft.com/office/drawing/2014/main" id="{1C3C4BC3-CC83-432F-9283-7BB81FA5C071}"/>
              </a:ext>
            </a:extLst>
          </p:cNvPr>
          <p:cNvSpPr>
            <a:spLocks xmlns:a="http://schemas.openxmlformats.org/drawingml/2006/main" noGrp="1"/>
          </p:cNvSpPr>
          <p:nvPr/>
        </p:nvSpPr>
        <p:spPr>
          <a:xfrm xmlns:a="http://schemas.openxmlformats.org/drawingml/2006/main">
            <a:off x="7304401" y="1896368"/>
            <a:ext cx="4328508" cy="24854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第6周：完成核心算法跑通与无幻觉基准测试</a:t>
            </a:r>
            <a:endParaRPr sz="1350"/>
          </a:p>
        </p:txBody>
      </p:sp>
      <p:sp>
        <p:nvSpPr>
          <p:cNvPr id="28" name="Shape 26">
            <a:extLst xmlns:a="http://schemas.openxmlformats.org/drawingml/2006/main">
              <a:ext uri="{FF2B5EF4-FFF2-40B4-BE49-F238E27FC236}">
                <a16:creationId xmlns:a16="http://schemas.microsoft.com/office/drawing/2014/main" id="{80E32EBC-A020-462A-8817-C1A72F40BBF7}"/>
              </a:ext>
            </a:extLst>
          </p:cNvPr>
          <p:cNvSpPr>
            <a:spLocks xmlns:a="http://schemas.openxmlformats.org/drawingml/2006/main" noGrp="1"/>
          </p:cNvSpPr>
          <p:nvPr/>
        </p:nvSpPr>
        <p:spPr>
          <a:xfrm xmlns:a="http://schemas.openxmlformats.org/drawingml/2006/main">
            <a:off x="7304401" y="2289373"/>
            <a:ext cx="4169663" cy="31651"/>
          </a:xfrm>
          <a:prstGeom xmlns:a="http://schemas.openxmlformats.org/drawingml/2006/main" prst="roundRect">
            <a:avLst>
              <a:gd name="adj" fmla="val 49998"/>
            </a:avLst>
          </a:prstGeom>
          <a:solidFill xmlns:a="http://schemas.openxmlformats.org/drawingml/2006/main">
            <a:srgbClr val="1B4A9B"/>
          </a:solidFill>
        </p:spPr>
      </p:sp>
      <p:sp>
        <p:nvSpPr>
          <p:cNvPr id="29" name="Text 27">
            <a:extLst xmlns:a="http://schemas.openxmlformats.org/drawingml/2006/main">
              <a:ext uri="{FF2B5EF4-FFF2-40B4-BE49-F238E27FC236}">
                <a16:creationId xmlns:a16="http://schemas.microsoft.com/office/drawing/2014/main" id="{8AA3C956-96E2-4B7C-83BD-648C00C82285}"/>
              </a:ext>
            </a:extLst>
          </p:cNvPr>
          <p:cNvSpPr>
            <a:spLocks xmlns:a="http://schemas.openxmlformats.org/drawingml/2006/main" noGrp="1"/>
          </p:cNvSpPr>
          <p:nvPr/>
        </p:nvSpPr>
        <p:spPr>
          <a:xfrm xmlns:a="http://schemas.openxmlformats.org/drawingml/2006/main">
            <a:off x="7304401" y="2519561"/>
            <a:ext cx="4169762" cy="2723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8000"/>
              </a:lnSpc>
              <a:buNone/>
            </a:pPr>
            <a:r>
              <a:rPr sz="1650">
                <a:solidFill>
                  <a:srgbClr val="1B4A9B"/>
                </a:solidFill>
                <a:latin typeface="Noto Sans SC"/>
                <a:ea typeface="Noto Sans SC"/>
                <a:cs typeface="Noto Sans SC"/>
              </a:rPr>
              <a:t>Milestone 2</a:t>
            </a:r>
            <a:endParaRPr sz="1650"/>
          </a:p>
        </p:txBody>
      </p:sp>
      <p:sp>
        <p:nvSpPr>
          <p:cNvPr id="30" name="Text 28">
            <a:extLst xmlns:a="http://schemas.openxmlformats.org/drawingml/2006/main">
              <a:ext uri="{FF2B5EF4-FFF2-40B4-BE49-F238E27FC236}">
                <a16:creationId xmlns:a16="http://schemas.microsoft.com/office/drawing/2014/main" id="{13E6B051-71FC-4190-BFD8-76E512B4303B}"/>
              </a:ext>
            </a:extLst>
          </p:cNvPr>
          <p:cNvSpPr>
            <a:spLocks xmlns:a="http://schemas.openxmlformats.org/drawingml/2006/main" noGrp="1"/>
          </p:cNvSpPr>
          <p:nvPr/>
        </p:nvSpPr>
        <p:spPr>
          <a:xfrm xmlns:a="http://schemas.openxmlformats.org/drawingml/2006/main">
            <a:off x="7304401" y="2912566"/>
            <a:ext cx="4328508" cy="24854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350">
                <a:solidFill>
                  <a:srgbClr val="1A1A1A"/>
                </a:solidFill>
                <a:latin typeface="Noto Sans SC"/>
                <a:ea typeface="Noto Sans SC"/>
                <a:cs typeface="Noto Sans SC"/>
              </a:rPr>
              <a:t>第11周：完成全栈联调与全部消融量化数据收集</a:t>
            </a:r>
            <a:endParaRPr sz="1350"/>
          </a:p>
        </p:txBody>
      </p:sp>
      <p:sp>
        <p:nvSpPr>
          <p:cNvPr id="31" name="Shape 29">
            <a:extLst xmlns:a="http://schemas.openxmlformats.org/drawingml/2006/main">
              <a:ext uri="{FF2B5EF4-FFF2-40B4-BE49-F238E27FC236}">
                <a16:creationId xmlns:a16="http://schemas.microsoft.com/office/drawing/2014/main" id="{E77CAABA-6426-47D8-9AC4-73CCE541CC28}"/>
              </a:ext>
            </a:extLst>
          </p:cNvPr>
          <p:cNvSpPr>
            <a:spLocks xmlns:a="http://schemas.openxmlformats.org/drawingml/2006/main" noGrp="1"/>
          </p:cNvSpPr>
          <p:nvPr/>
        </p:nvSpPr>
        <p:spPr>
          <a:xfrm xmlns:a="http://schemas.openxmlformats.org/drawingml/2006/main">
            <a:off x="558786" y="4654550"/>
            <a:ext cx="1661079" cy="806450"/>
          </a:xfrm>
          <a:prstGeom xmlns:a="http://schemas.openxmlformats.org/drawingml/2006/main" prst="rect">
            <a:avLst/>
          </a:prstGeom>
          <a:solidFill xmlns:a="http://schemas.openxmlformats.org/drawingml/2006/main">
            <a:srgbClr val="1E7B4F"/>
          </a:solidFill>
        </p:spPr>
      </p:sp>
      <p:sp>
        <p:nvSpPr>
          <p:cNvPr id="32" name="Text 30">
            <a:extLst xmlns:a="http://schemas.openxmlformats.org/drawingml/2006/main">
              <a:ext uri="{FF2B5EF4-FFF2-40B4-BE49-F238E27FC236}">
                <a16:creationId xmlns:a16="http://schemas.microsoft.com/office/drawing/2014/main" id="{149FA597-8929-47AE-AB2E-3808B38A08D7}"/>
              </a:ext>
            </a:extLst>
          </p:cNvPr>
          <p:cNvSpPr>
            <a:spLocks xmlns:a="http://schemas.openxmlformats.org/drawingml/2006/main" noGrp="1"/>
          </p:cNvSpPr>
          <p:nvPr/>
        </p:nvSpPr>
        <p:spPr>
          <a:xfrm xmlns:a="http://schemas.openxmlformats.org/drawingml/2006/main">
            <a:off x="711182" y="4919663"/>
            <a:ext cx="1508683" cy="2762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1000"/>
              </a:lnSpc>
              <a:buNone/>
            </a:pPr>
            <a:r>
              <a:rPr sz="1500" b="1">
                <a:solidFill>
                  <a:srgbClr val="FFFFFF"/>
                </a:solidFill>
                <a:latin typeface="Noto Sans SC Bold"/>
                <a:ea typeface="Noto Sans SC Bold"/>
                <a:cs typeface="Noto Sans SC Bold"/>
              </a:rPr>
              <a:t>进度保证</a:t>
            </a:r>
            <a:endParaRPr sz="1500"/>
          </a:p>
        </p:txBody>
      </p:sp>
      <p:sp>
        <p:nvSpPr>
          <p:cNvPr id="33" name="Shape 31">
            <a:extLst xmlns:a="http://schemas.openxmlformats.org/drawingml/2006/main">
              <a:ext uri="{FF2B5EF4-FFF2-40B4-BE49-F238E27FC236}">
                <a16:creationId xmlns:a16="http://schemas.microsoft.com/office/drawing/2014/main" id="{96A98E44-8C34-4D26-819A-2F032611CA3A}"/>
              </a:ext>
            </a:extLst>
          </p:cNvPr>
          <p:cNvSpPr>
            <a:spLocks xmlns:a="http://schemas.openxmlformats.org/drawingml/2006/main" noGrp="1"/>
          </p:cNvSpPr>
          <p:nvPr/>
        </p:nvSpPr>
        <p:spPr>
          <a:xfrm xmlns:a="http://schemas.openxmlformats.org/drawingml/2006/main">
            <a:off x="2219865" y="4654550"/>
            <a:ext cx="9413044" cy="806450"/>
          </a:xfrm>
          <a:prstGeom xmlns:a="http://schemas.openxmlformats.org/drawingml/2006/main" prst="rect">
            <a:avLst/>
          </a:prstGeom>
          <a:solidFill xmlns:a="http://schemas.openxmlformats.org/drawingml/2006/main">
            <a:srgbClr val="E6F4EC"/>
          </a:solidFill>
        </p:spPr>
      </p:sp>
      <p:sp>
        <p:nvSpPr>
          <p:cNvPr id="34" name="Text 32">
            <a:extLst xmlns:a="http://schemas.openxmlformats.org/drawingml/2006/main">
              <a:ext uri="{FF2B5EF4-FFF2-40B4-BE49-F238E27FC236}">
                <a16:creationId xmlns:a16="http://schemas.microsoft.com/office/drawing/2014/main" id="{16779A32-F30B-4BAF-991C-7FBB67785766}"/>
              </a:ext>
            </a:extLst>
          </p:cNvPr>
          <p:cNvSpPr>
            <a:spLocks xmlns:a="http://schemas.openxmlformats.org/drawingml/2006/main" noGrp="1"/>
          </p:cNvSpPr>
          <p:nvPr/>
        </p:nvSpPr>
        <p:spPr>
          <a:xfrm xmlns:a="http://schemas.openxmlformats.org/drawingml/2006/main">
            <a:off x="2372261" y="4781550"/>
            <a:ext cx="9108252" cy="552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1000"/>
              </a:lnSpc>
              <a:buNone/>
            </a:pPr>
            <a:r>
              <a:rPr sz="1500">
                <a:solidFill>
                  <a:srgbClr val="000000"/>
                </a:solidFill>
                <a:latin typeface="Noto Sans SC"/>
                <a:ea typeface="Noto Sans SC"/>
                <a:cs typeface="Noto Sans SC"/>
              </a:rPr>
              <a:t>采用敏捷迭代开发模式，各模块单测前置；前8周聚焦算法可靠性验证，后6周聚焦系统工程集成与论文撰写。</a:t>
            </a:r>
            <a:endParaRPr sz="1500"/>
          </a:p>
        </p:txBody>
      </p:sp>
      <p:sp>
        <p:nvSpPr>
          <p:cNvPr id="35" name="Shape 33">
            <a:extLst xmlns:a="http://schemas.openxmlformats.org/drawingml/2006/main">
              <a:ext uri="{FF2B5EF4-FFF2-40B4-BE49-F238E27FC236}">
                <a16:creationId xmlns:a16="http://schemas.microsoft.com/office/drawing/2014/main" id="{97648DE0-F9BC-4C16-B7B0-D72A70D62D41}"/>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36" name="Text 34">
            <a:extLst xmlns:a="http://schemas.openxmlformats.org/drawingml/2006/main">
              <a:ext uri="{FF2B5EF4-FFF2-40B4-BE49-F238E27FC236}">
                <a16:creationId xmlns:a16="http://schemas.microsoft.com/office/drawing/2014/main" id="{A51DF3AD-1C3D-405C-A81C-618F5E5FF46B}"/>
              </a:ext>
            </a:extLst>
          </p:cNvPr>
          <p:cNvSpPr>
            <a:spLocks xmlns:a="http://schemas.openxmlformats.org/drawingml/2006/main" noGrp="1"/>
          </p:cNvSpPr>
          <p:nvPr/>
        </p:nvSpPr>
        <p:spPr>
          <a:xfrm xmlns:a="http://schemas.openxmlformats.org/drawingml/2006/main">
            <a:off x="11565839" y="6351389"/>
            <a:ext cx="625856"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9</a:t>
            </a:r>
            <a:endParaRPr sz="950"/>
          </a:p>
        </p:txBody>
      </p:sp>
    </p:spTree>
    <p:extLst>
      <p:ext uri="{BB962C8B-B14F-4D97-AF65-F5344CB8AC3E}">
        <p14:creationId xmlns:p14="http://schemas.microsoft.com/office/powerpoint/2010/main" val="14931397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D95C15-61D0-4CD4-A7B6-0D16CD316BD8}"/>
              </a:ext>
            </a:extLst>
          </p:cNvPr>
          <p:cNvSpPr>
            <a:spLocks xmlns:a="http://schemas.openxmlformats.org/drawingml/2006/main" noGrp="1"/>
          </p:cNvSpPr>
          <p:nvPr/>
        </p:nvSpPr>
        <p:spPr>
          <a:xfrm xmlns:a="http://schemas.openxmlformats.org/drawingml/2006/main">
            <a:off x="558786" y="558800"/>
            <a:ext cx="11074123" cy="42664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3000"/>
              </a:lnSpc>
              <a:buNone/>
            </a:pPr>
            <a:r>
              <a:rPr sz="3000" b="1">
                <a:solidFill>
                  <a:srgbClr val="1B4A9B"/>
                </a:solidFill>
                <a:latin typeface="Noto Sans SC Bold"/>
                <a:ea typeface="Noto Sans SC Bold"/>
                <a:cs typeface="Noto Sans SC Bold"/>
              </a:rPr>
              <a:t>主要参考文献</a:t>
            </a:r>
            <a:endParaRPr sz="3000"/>
          </a:p>
        </p:txBody>
      </p:sp>
      <p:sp>
        <p:nvSpPr>
          <p:cNvPr id="3" name="Text 1">
            <a:extLst xmlns:a="http://schemas.openxmlformats.org/drawingml/2006/main">
              <a:ext uri="{FF2B5EF4-FFF2-40B4-BE49-F238E27FC236}">
                <a16:creationId xmlns:a16="http://schemas.microsoft.com/office/drawing/2014/main" id="{E0600717-A8B6-4A63-B957-8B8D2509CD7B}"/>
              </a:ext>
            </a:extLst>
          </p:cNvPr>
          <p:cNvSpPr>
            <a:spLocks xmlns:a="http://schemas.openxmlformats.org/drawingml/2006/main" noGrp="1"/>
          </p:cNvSpPr>
          <p:nvPr/>
        </p:nvSpPr>
        <p:spPr>
          <a:xfrm xmlns:a="http://schemas.openxmlformats.org/drawingml/2006/main">
            <a:off x="558786" y="1153716"/>
            <a:ext cx="5384665" cy="17399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304800" indent="-304800" algn="l">
              <a:lnSpc>
                <a:spcPct val="121000"/>
              </a:lnSpc>
              <a:buSzPct val="100000"/>
              <a:buChar char="•"/>
            </a:pPr>
            <a:r>
              <a:rPr sz="1500">
                <a:solidFill>
                  <a:srgbClr val="1A1A1A"/>
                </a:solidFill>
                <a:latin typeface="Noto Sans SC"/>
                <a:ea typeface="Noto Sans SC"/>
                <a:cs typeface="Noto Sans SC"/>
              </a:rPr>
              <a:t>常亮, 孙文平, 张伟涛, 等. 旅游路线规划研究综述[J]. 智能系统学报, 2019</a:t>
            </a:r>
            <a:endParaRPr sz="1500"/>
          </a:p>
          <a:p xmlns:a="http://schemas.openxmlformats.org/drawingml/2006/main">
            <a:pPr marL="304800" indent="-304800" algn="l">
              <a:lnSpc>
                <a:spcPct val="121000"/>
              </a:lnSpc>
              <a:buSzPct val="100000"/>
              <a:buChar char="•"/>
            </a:pPr>
            <a:r>
              <a:rPr sz="1500">
                <a:solidFill>
                  <a:srgbClr val="1A1A1A"/>
                </a:solidFill>
                <a:latin typeface="Noto Sans SC"/>
                <a:ea typeface="Noto Sans SC"/>
                <a:cs typeface="Noto Sans SC"/>
              </a:rPr>
              <a:t>匡海丽, 常亮, 宾辰忠, 等. 上下文感知旅游推荐系统研究综述[J]. 智能系统学报, 2019</a:t>
            </a:r>
            <a:endParaRPr sz="1500"/>
          </a:p>
          <a:p xmlns:a="http://schemas.openxmlformats.org/drawingml/2006/main">
            <a:pPr marL="304800" indent="-304800" algn="l">
              <a:lnSpc>
                <a:spcPct val="121000"/>
              </a:lnSpc>
              <a:buSzPct val="100000"/>
              <a:buChar char="•"/>
            </a:pPr>
            <a:r>
              <a:rPr sz="1500">
                <a:solidFill>
                  <a:srgbClr val="1A1A1A"/>
                </a:solidFill>
                <a:latin typeface="Noto Sans SC"/>
                <a:ea typeface="Noto Sans SC"/>
                <a:cs typeface="Noto Sans SC"/>
              </a:rPr>
              <a:t>VANSTEENWEGEN P, et al. The City Trip Planner[J]. Expert Systems with Applications, 2011</a:t>
            </a:r>
            <a:endParaRPr sz="1500"/>
          </a:p>
        </p:txBody>
      </p:sp>
      <p:sp>
        <p:nvSpPr>
          <p:cNvPr id="4" name="Text 2">
            <a:extLst xmlns:a="http://schemas.openxmlformats.org/drawingml/2006/main">
              <a:ext uri="{FF2B5EF4-FFF2-40B4-BE49-F238E27FC236}">
                <a16:creationId xmlns:a16="http://schemas.microsoft.com/office/drawing/2014/main" id="{2A8F7008-9C5C-47A0-A09B-8441BAB07C93}"/>
              </a:ext>
            </a:extLst>
          </p:cNvPr>
          <p:cNvSpPr>
            <a:spLocks xmlns:a="http://schemas.openxmlformats.org/drawingml/2006/main" noGrp="1"/>
          </p:cNvSpPr>
          <p:nvPr/>
        </p:nvSpPr>
        <p:spPr>
          <a:xfrm xmlns:a="http://schemas.openxmlformats.org/drawingml/2006/main">
            <a:off x="6248244" y="1153716"/>
            <a:ext cx="5384665" cy="22923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304800" indent="-304800" algn="l">
              <a:lnSpc>
                <a:spcPct val="121000"/>
              </a:lnSpc>
              <a:buSzPct val="100000"/>
              <a:buChar char="•"/>
            </a:pPr>
            <a:r>
              <a:rPr sz="1500">
                <a:solidFill>
                  <a:srgbClr val="1A1A1A"/>
                </a:solidFill>
                <a:latin typeface="Noto Sans SC"/>
                <a:ea typeface="Noto Sans SC"/>
                <a:cs typeface="Noto Sans SC"/>
              </a:rPr>
              <a:t>YAO S, ZHAO J, YU D, et al. ReAct: Synergizing reasoning and acting in language models[C]. ICLR, 2023</a:t>
            </a:r>
            <a:endParaRPr sz="1500"/>
          </a:p>
          <a:p xmlns:a="http://schemas.openxmlformats.org/drawingml/2006/main">
            <a:pPr marL="304800" indent="-304800" algn="l">
              <a:lnSpc>
                <a:spcPct val="121000"/>
              </a:lnSpc>
              <a:buSzPct val="100000"/>
              <a:buChar char="•"/>
            </a:pPr>
            <a:r>
              <a:rPr sz="1500">
                <a:solidFill>
                  <a:srgbClr val="1A1A1A"/>
                </a:solidFill>
                <a:latin typeface="Noto Sans SC"/>
                <a:ea typeface="Noto Sans SC"/>
                <a:cs typeface="Noto Sans SC"/>
              </a:rPr>
              <a:t>XIE J, ZHANG K, CHEN J, et al. TravelPlanner: A Benchmark for Real-World Planning with Language Agents[C]. ICML, 2024</a:t>
            </a:r>
            <a:endParaRPr sz="1500"/>
          </a:p>
          <a:p xmlns:a="http://schemas.openxmlformats.org/drawingml/2006/main">
            <a:pPr marL="304800" indent="-304800" algn="l">
              <a:lnSpc>
                <a:spcPct val="121000"/>
              </a:lnSpc>
              <a:buSzPct val="100000"/>
              <a:buChar char="•"/>
            </a:pPr>
            <a:r>
              <a:rPr sz="1500">
                <a:solidFill>
                  <a:srgbClr val="1A1A1A"/>
                </a:solidFill>
                <a:latin typeface="Noto Sans SC"/>
                <a:ea typeface="Noto Sans SC"/>
                <a:cs typeface="Noto Sans SC"/>
              </a:rPr>
              <a:t>LEWIS P, PEREZ E, PIKTUS A, et al. Retrieval-Augmented Generation for Knowledge-Intensive NLP Tasks[C]. NeurIPS, 2020</a:t>
            </a:r>
            <a:endParaRPr sz="1500"/>
          </a:p>
        </p:txBody>
      </p:sp>
      <p:sp>
        <p:nvSpPr>
          <p:cNvPr id="5" name="Shape 3">
            <a:extLst xmlns:a="http://schemas.openxmlformats.org/drawingml/2006/main">
              <a:ext uri="{FF2B5EF4-FFF2-40B4-BE49-F238E27FC236}">
                <a16:creationId xmlns:a16="http://schemas.microsoft.com/office/drawing/2014/main" id="{131C4ECA-C0F0-4778-B79E-E30E14499DD5}"/>
              </a:ext>
            </a:extLst>
          </p:cNvPr>
          <p:cNvSpPr>
            <a:spLocks xmlns:a="http://schemas.openxmlformats.org/drawingml/2006/main" noGrp="1"/>
          </p:cNvSpPr>
          <p:nvPr/>
        </p:nvSpPr>
        <p:spPr>
          <a:xfrm xmlns:a="http://schemas.openxmlformats.org/drawingml/2006/main">
            <a:off x="0" y="6019800"/>
            <a:ext cx="12191695" cy="9525"/>
          </a:xfrm>
          <a:prstGeom xmlns:a="http://schemas.openxmlformats.org/drawingml/2006/main" prst="rect">
            <a:avLst/>
          </a:prstGeom>
          <a:solidFill xmlns:a="http://schemas.openxmlformats.org/drawingml/2006/main">
            <a:srgbClr val="1A1A1A">
              <a:alpha val="20000"/>
            </a:srgbClr>
          </a:solidFill>
        </p:spPr>
      </p:sp>
      <p:sp>
        <p:nvSpPr>
          <p:cNvPr id="6" name="Text 4">
            <a:extLst xmlns:a="http://schemas.openxmlformats.org/drawingml/2006/main">
              <a:ext uri="{FF2B5EF4-FFF2-40B4-BE49-F238E27FC236}">
                <a16:creationId xmlns:a16="http://schemas.microsoft.com/office/drawing/2014/main" id="{D7AD39E2-665E-4C91-9AD8-1F59CD1C545E}"/>
              </a:ext>
            </a:extLst>
          </p:cNvPr>
          <p:cNvSpPr>
            <a:spLocks xmlns:a="http://schemas.openxmlformats.org/drawingml/2006/main" noGrp="1"/>
          </p:cNvSpPr>
          <p:nvPr/>
        </p:nvSpPr>
        <p:spPr>
          <a:xfrm xmlns:a="http://schemas.openxmlformats.org/drawingml/2006/main">
            <a:off x="11498868" y="6351389"/>
            <a:ext cx="692827" cy="17492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21000"/>
              </a:lnSpc>
              <a:buNone/>
            </a:pPr>
            <a:r>
              <a:rPr sz="950">
                <a:solidFill>
                  <a:srgbClr val="1A1A1A"/>
                </a:solidFill>
                <a:latin typeface="Noto Sans SC"/>
                <a:ea typeface="Noto Sans SC"/>
                <a:cs typeface="Noto Sans SC"/>
              </a:rPr>
              <a:t>10</a:t>
            </a:r>
            <a:endParaRPr sz="950"/>
          </a:p>
        </p:txBody>
      </p:sp>
    </p:spTree>
    <p:extLst>
      <p:ext uri="{BB962C8B-B14F-4D97-AF65-F5344CB8AC3E}">
        <p14:creationId xmlns:p14="http://schemas.microsoft.com/office/powerpoint/2010/main" val="7150830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2026-09-24T08:28:08.9810000Z</dcterms:created>
  <dcterms:modified xsi:type="dcterms:W3CDTF">2026-09-24T08:28:08.9810000Z</dcterms:modified>
</coreProperties>
</file>